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çılış" id="{9d50512d-5699-2619-95c3-f5084f850c70}">
          <p14:sldIdLst>
            <p14:sldId id="256"/>
            <p14:sldId id="257"/>
          </p14:sldIdLst>
        </p14:section>
        <p14:section name="Problem ve çözüm" id="{b11fcce0-9103-b751-8e80-fd09ee168271}">
          <p14:sldIdLst>
            <p14:sldId id="258"/>
            <p14:sldId id="259"/>
            <p14:sldId id="260"/>
          </p14:sldIdLst>
        </p14:section>
        <p14:section name="Ürün" id="{5b887ed5-ae0d-4539-a403-e42e14df49e9}">
          <p14:sldIdLst>
            <p14:sldId id="261"/>
            <p14:sldId id="262"/>
            <p14:sldId id="263"/>
          </p14:sldIdLst>
        </p14:section>
        <p14:section name="Değer ve kapanış" id="{4423d3af-e1dd-4230-0a6a-095b88b1adc6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0:00–0:10 · Merhaba, biz AI Overflow. Projemizin adı Mercek: soruna odaklanır, çözümü netleştirir.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0:10–0:20 · Takımı tek cümleyle tanıtın. (Ad, birim ve rolleri doldurun; fotoğraf eklenecekse daire içine yerleştirin.)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0:20–0:50 · Ayşe'nin hikâyesi: EFT hatası, çağrı merkezi, L1, L2, ekip. Her adımda bağlam kayboluyor. Aynı ekrana gelen değişiklik talepleri de bu çağrı birikimini hiç görmüyor. (Süre ifadeleri varsayımdır; kurum içi gerçek rakam varsa onunla değiştirin.)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0:50–1:05 · Tek cümle çözüm. İki modül ve aralarındaki köprü: çağrı verisi talep kapsamına giriyor. Hedef kullanıcılar.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1:05–1:20 · Bugünkü araçlar çağrıyı kaydeder; Mercek çağrı açılmadan tespit eder, gerekirse kodu okur ve çağrı birikimini yeni talebe bağlar. AI'ın rolü sınırlı ve denetlenebilir: hesap kodda.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1:20–1:35 · Tek App Service; Foundry'de sohbet ve embedding modeli; SQL yapısal veri; AI Search hibrit arama. CI/CD her PR'da test ve güvenlik taraması yapıyor. Sağda: AI'ın ve kuralların işi net ayrılmış. (Sadece gerçekten çalışan servisler bu slaytta kalmalı.)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1:35–1:45 · Üç kullanıcı, üç ekran, tek akış. Detayı demoda göstereceğiz.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1:45–4:15 · CANLI DEMO (yaklaşık 2,5 dk). Sahne 1: Para Transferi'nde 2.500 TL EFT → hata → Sorun yaşıyorum → olası neden kartı → Bana göster (havale turu). Sahne 2: Destek Konsolu CAG-1042 (%93 eşleşme, kaynaklar) → CAG-1043 (%41, kod analizi, diff). Sahne 3: Talep Asistanı 'favori alıcı' → etki, 15–22 adam-gün, 9 Kasım → 4 Aralık → 312 çağrı → kapsama ekle → 9 Aralık. Bağlantı sorunu olursa yedek videoya geçin.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4:15–4:40 · Önce/sonra. Ölçümlerden gelen gerçek süreleri (tespit X sn, zenginleştirme Y sn, tahmin Z sn) büyük rakamların yerine koyun. Varsayımları açıkça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4:40–4:55 · 'Tamamlanan' listesini 2. gün 12:00'de gerçek duruma göre güncelleyin. S-C: AI yanlışsa → eşik, kaynak, insan onayı, hesap kodda. Maliyet → küçük model, çağrı başına ölçülen maliyet. Kim kullanır → müşteri, L1/L2, analist.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4:55–5:00 · Sloganla kapatın. Bağlantıları sunumdan önce doldurun; şifre, anahtar veya gerçek müşteri verisi görünmediğini kontrol edin.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AI Overflow · Mercek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ZİRAAT TEKNOLOJİ YAPAY ZEKA HACKATHONU · TEMA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chemeClr val="bg1"/>
                </a:solidFill>
              </a:rPr>
              <a:t>Mercek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918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chemeClr val="bg2"/>
                </a:solidFill>
              </a:rPr>
              <a:t>Soruna odaklanır, çözümü netleştirir.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800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AI Overflow takımı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2120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17 Ekim 2026</a:t>
            </a:r>
            <a:endParaRPr lang="en-US" sz="1600" dirty="0"/>
          </a:p>
        </p:txBody>
      </p:sp>
      <p:sp>
        <p:nvSpPr>
          <p:cNvPr id="7" name="lens-outer"/>
          <p:cNvSpPr/>
          <p:nvPr/>
        </p:nvSpPr>
        <p:spPr>
          <a:xfrm>
            <a:off x="7406640" y="1371600"/>
            <a:ext cx="4114800" cy="4114800"/>
          </a:xfrm>
          <a:prstGeom prst="ellipse">
            <a:avLst/>
          </a:prstGeom>
          <a:ln w="76200">
            <a:solidFill>
              <a:schemeClr val="accent1"/>
            </a:solidFill>
            <a:prstDash val="solid"/>
          </a:ln>
        </p:spPr>
      </p:sp>
      <p:sp>
        <p:nvSpPr>
          <p:cNvPr id="8" name="lens-inner"/>
          <p:cNvSpPr/>
          <p:nvPr/>
        </p:nvSpPr>
        <p:spPr>
          <a:xfrm>
            <a:off x="8188452" y="2153412"/>
            <a:ext cx="2551176" cy="2551176"/>
          </a:xfrm>
          <a:prstGeom prst="ellipse">
            <a:avLst/>
          </a:prstGeom>
          <a:ln w="38100">
            <a:solidFill>
              <a:schemeClr val="accent2"/>
            </a:solidFill>
            <a:prstDash val="solid"/>
          </a:ln>
        </p:spPr>
      </p:sp>
      <p:sp>
        <p:nvSpPr>
          <p:cNvPr id="9" name="lens-core"/>
          <p:cNvSpPr/>
          <p:nvPr/>
        </p:nvSpPr>
        <p:spPr>
          <a:xfrm>
            <a:off x="9011412" y="2976372"/>
            <a:ext cx="905256" cy="9052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AI Overflow takımı</a:t>
            </a:r>
            <a:endParaRPr lang="en-US" sz="3600" dirty="0"/>
          </a:p>
        </p:txBody>
      </p:sp>
      <p:sp>
        <p:nvSpPr>
          <p:cNvPr id="3" name="team-card-1"/>
          <p:cNvSpPr/>
          <p:nvPr/>
        </p:nvSpPr>
        <p:spPr>
          <a:xfrm>
            <a:off x="548640" y="1600200"/>
            <a:ext cx="2075688" cy="397764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am-photo-1"/>
          <p:cNvSpPr/>
          <p:nvPr/>
        </p:nvSpPr>
        <p:spPr>
          <a:xfrm>
            <a:off x="992124" y="1965960"/>
            <a:ext cx="1188720" cy="118872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pic>
        <p:nvPicPr>
          <p:cNvPr id="5" name="team-photo-icon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2164" y="2286000"/>
            <a:ext cx="548640" cy="548640"/>
          </a:xfrm>
          <a:prstGeom prst="rect">
            <a:avLst/>
          </a:prstGeom>
        </p:spPr>
      </p:pic>
      <p:sp>
        <p:nvSpPr>
          <p:cNvPr id="6" name="team-text-1"/>
          <p:cNvSpPr txBox="1"/>
          <p:nvPr/>
        </p:nvSpPr>
        <p:spPr>
          <a:xfrm>
            <a:off x="685800" y="3383280"/>
            <a:ext cx="18013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 Soyad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Birim</a:t>
            </a: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Projedeki rolü</a:t>
            </a:r>
            <a:endParaRPr lang="en-US" sz="1800" dirty="0"/>
          </a:p>
        </p:txBody>
      </p:sp>
      <p:sp>
        <p:nvSpPr>
          <p:cNvPr id="7" name="team-card-2"/>
          <p:cNvSpPr/>
          <p:nvPr/>
        </p:nvSpPr>
        <p:spPr>
          <a:xfrm>
            <a:off x="2807208" y="1600200"/>
            <a:ext cx="2075688" cy="397764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am-photo-2"/>
          <p:cNvSpPr/>
          <p:nvPr/>
        </p:nvSpPr>
        <p:spPr>
          <a:xfrm>
            <a:off x="3250692" y="1965960"/>
            <a:ext cx="1188720" cy="118872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pic>
        <p:nvPicPr>
          <p:cNvPr id="9" name="team-photo-icon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2286000"/>
            <a:ext cx="548640" cy="548640"/>
          </a:xfrm>
          <a:prstGeom prst="rect">
            <a:avLst/>
          </a:prstGeom>
        </p:spPr>
      </p:pic>
      <p:sp>
        <p:nvSpPr>
          <p:cNvPr id="10" name="team-text-2"/>
          <p:cNvSpPr txBox="1"/>
          <p:nvPr/>
        </p:nvSpPr>
        <p:spPr>
          <a:xfrm>
            <a:off x="2944368" y="3383280"/>
            <a:ext cx="18013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 Soyad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Birim</a:t>
            </a: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Projedeki rolü</a:t>
            </a:r>
            <a:endParaRPr lang="en-US" sz="1800" dirty="0"/>
          </a:p>
        </p:txBody>
      </p:sp>
      <p:sp>
        <p:nvSpPr>
          <p:cNvPr id="11" name="team-card-3"/>
          <p:cNvSpPr/>
          <p:nvPr/>
        </p:nvSpPr>
        <p:spPr>
          <a:xfrm>
            <a:off x="5065776" y="1600200"/>
            <a:ext cx="2075688" cy="397764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am-photo-3"/>
          <p:cNvSpPr/>
          <p:nvPr/>
        </p:nvSpPr>
        <p:spPr>
          <a:xfrm>
            <a:off x="5509260" y="1965960"/>
            <a:ext cx="1188720" cy="118872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pic>
        <p:nvPicPr>
          <p:cNvPr id="13" name="team-photo-icon-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286000"/>
            <a:ext cx="548640" cy="548640"/>
          </a:xfrm>
          <a:prstGeom prst="rect">
            <a:avLst/>
          </a:prstGeom>
        </p:spPr>
      </p:pic>
      <p:sp>
        <p:nvSpPr>
          <p:cNvPr id="14" name="team-text-3"/>
          <p:cNvSpPr txBox="1"/>
          <p:nvPr/>
        </p:nvSpPr>
        <p:spPr>
          <a:xfrm>
            <a:off x="5202936" y="3383280"/>
            <a:ext cx="18013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 Soyad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Birim</a:t>
            </a: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Projedeki rolü</a:t>
            </a:r>
            <a:endParaRPr lang="en-US" sz="1800" dirty="0"/>
          </a:p>
        </p:txBody>
      </p:sp>
      <p:sp>
        <p:nvSpPr>
          <p:cNvPr id="15" name="team-card-4"/>
          <p:cNvSpPr/>
          <p:nvPr/>
        </p:nvSpPr>
        <p:spPr>
          <a:xfrm>
            <a:off x="7324344" y="1600200"/>
            <a:ext cx="2075688" cy="397764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am-photo-4"/>
          <p:cNvSpPr/>
          <p:nvPr/>
        </p:nvSpPr>
        <p:spPr>
          <a:xfrm>
            <a:off x="7767828" y="1965960"/>
            <a:ext cx="1188720" cy="118872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pic>
        <p:nvPicPr>
          <p:cNvPr id="17" name="team-photo-icon-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868" y="2286000"/>
            <a:ext cx="548640" cy="548640"/>
          </a:xfrm>
          <a:prstGeom prst="rect">
            <a:avLst/>
          </a:prstGeom>
        </p:spPr>
      </p:pic>
      <p:sp>
        <p:nvSpPr>
          <p:cNvPr id="18" name="team-text-4"/>
          <p:cNvSpPr txBox="1"/>
          <p:nvPr/>
        </p:nvSpPr>
        <p:spPr>
          <a:xfrm>
            <a:off x="7461504" y="3383280"/>
            <a:ext cx="18013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 Soyad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Birim</a:t>
            </a: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Projedeki rolü</a:t>
            </a:r>
            <a:endParaRPr lang="en-US" sz="1800" dirty="0"/>
          </a:p>
        </p:txBody>
      </p:sp>
      <p:sp>
        <p:nvSpPr>
          <p:cNvPr id="19" name="team-card-5"/>
          <p:cNvSpPr/>
          <p:nvPr/>
        </p:nvSpPr>
        <p:spPr>
          <a:xfrm>
            <a:off x="9582912" y="1600200"/>
            <a:ext cx="2075688" cy="3977640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am-photo-5"/>
          <p:cNvSpPr/>
          <p:nvPr/>
        </p:nvSpPr>
        <p:spPr>
          <a:xfrm>
            <a:off x="10026396" y="1965960"/>
            <a:ext cx="1188720" cy="118872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  <a:prstDash val="solid"/>
          </a:ln>
        </p:spPr>
      </p:sp>
      <p:pic>
        <p:nvPicPr>
          <p:cNvPr id="21" name="team-photo-icon-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6436" y="2286000"/>
            <a:ext cx="548640" cy="548640"/>
          </a:xfrm>
          <a:prstGeom prst="rect">
            <a:avLst/>
          </a:prstGeom>
        </p:spPr>
      </p:pic>
      <p:sp>
        <p:nvSpPr>
          <p:cNvPr id="22" name="team-text-5"/>
          <p:cNvSpPr txBox="1"/>
          <p:nvPr/>
        </p:nvSpPr>
        <p:spPr>
          <a:xfrm>
            <a:off x="9720072" y="3383280"/>
            <a:ext cx="180136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Ad Soyad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Birim</a:t>
            </a:r>
            <a:endParaRPr lang="en-US" sz="1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Projedeki rolü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Görevler 19 maddelik sorumluluk listesinden herkesin kendi seçimiyle dağıtıldı.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Bir EFT hatası, saatler süren bir yolculuk</a:t>
            </a:r>
            <a:endParaRPr lang="en-US" sz="3600" dirty="0"/>
          </a:p>
        </p:txBody>
      </p:sp>
      <p:sp>
        <p:nvSpPr>
          <p:cNvPr id="3" name="quote-card"/>
          <p:cNvSpPr/>
          <p:nvPr/>
        </p:nvSpPr>
        <p:spPr>
          <a:xfrm>
            <a:off x="548640" y="1463040"/>
            <a:ext cx="3200400" cy="452628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quot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242316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bg1"/>
                </a:solidFill>
              </a:rPr>
              <a:t>“Kiramı gönderemiyorum, acil.”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5120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Ayşe, bireysel müşteri · Para Transferi ekranı</a:t>
            </a:r>
            <a:endParaRPr lang="en-US" sz="1400" dirty="0"/>
          </a:p>
        </p:txBody>
      </p:sp>
      <p:sp>
        <p:nvSpPr>
          <p:cNvPr id="7" name="flow-step-1"/>
          <p:cNvSpPr/>
          <p:nvPr/>
        </p:nvSpPr>
        <p:spPr>
          <a:xfrm>
            <a:off x="4069080" y="1463040"/>
            <a:ext cx="1371600" cy="173736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low-num-1"/>
          <p:cNvSpPr/>
          <p:nvPr/>
        </p:nvSpPr>
        <p:spPr>
          <a:xfrm>
            <a:off x="4206240" y="160020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20624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206240" y="21031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Müşteri hata alır</a:t>
            </a:r>
            <a:endParaRPr lang="en-US" sz="1400" dirty="0"/>
          </a:p>
        </p:txBody>
      </p:sp>
      <p:sp>
        <p:nvSpPr>
          <p:cNvPr id="11" name="flow-step-2"/>
          <p:cNvSpPr/>
          <p:nvPr/>
        </p:nvSpPr>
        <p:spPr>
          <a:xfrm>
            <a:off x="5586984" y="1463040"/>
            <a:ext cx="1371600" cy="173736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low-num-2"/>
          <p:cNvSpPr/>
          <p:nvPr/>
        </p:nvSpPr>
        <p:spPr>
          <a:xfrm>
            <a:off x="5724144" y="160020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24144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724144" y="21031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Çağrı merkezini arar</a:t>
            </a:r>
            <a:endParaRPr lang="en-US" sz="1400" dirty="0"/>
          </a:p>
        </p:txBody>
      </p:sp>
      <p:sp>
        <p:nvSpPr>
          <p:cNvPr id="15" name="flow-step-3"/>
          <p:cNvSpPr/>
          <p:nvPr/>
        </p:nvSpPr>
        <p:spPr>
          <a:xfrm>
            <a:off x="7104888" y="1463040"/>
            <a:ext cx="1371600" cy="173736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flow-num-3"/>
          <p:cNvSpPr/>
          <p:nvPr/>
        </p:nvSpPr>
        <p:spPr>
          <a:xfrm>
            <a:off x="7242048" y="160020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242048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242048" y="21031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L1 tek cümlelik kayıt açar</a:t>
            </a:r>
            <a:endParaRPr lang="en-US" sz="1400" dirty="0"/>
          </a:p>
        </p:txBody>
      </p:sp>
      <p:sp>
        <p:nvSpPr>
          <p:cNvPr id="19" name="flow-step-4"/>
          <p:cNvSpPr/>
          <p:nvPr/>
        </p:nvSpPr>
        <p:spPr>
          <a:xfrm>
            <a:off x="8622792" y="1463040"/>
            <a:ext cx="1371600" cy="173736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flow-num-4"/>
          <p:cNvSpPr/>
          <p:nvPr/>
        </p:nvSpPr>
        <p:spPr>
          <a:xfrm>
            <a:off x="8759952" y="160020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59952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759952" y="21031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L2 log arar, ekibi bulur</a:t>
            </a:r>
            <a:endParaRPr lang="en-US" sz="1400" dirty="0"/>
          </a:p>
        </p:txBody>
      </p:sp>
      <p:sp>
        <p:nvSpPr>
          <p:cNvPr id="23" name="flow-step-5"/>
          <p:cNvSpPr/>
          <p:nvPr/>
        </p:nvSpPr>
        <p:spPr>
          <a:xfrm>
            <a:off x="10140696" y="1463040"/>
            <a:ext cx="1371600" cy="173736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flow-num-5"/>
          <p:cNvSpPr/>
          <p:nvPr/>
        </p:nvSpPr>
        <p:spPr>
          <a:xfrm>
            <a:off x="10277856" y="1600200"/>
            <a:ext cx="411480" cy="4114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277856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0277856" y="21031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Ekip kök nedeni arar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069080" y="327355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Bedeli: </a:t>
            </a:r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saatlerce işlem yapamayan müşteri · her çağrıda çağrı merkezi, L1 ve L2 eforu · daha önce çözülmüş sorunun yeniden çözülmesi</a:t>
            </a:r>
            <a:endParaRPr lang="en-US" sz="1400" dirty="0"/>
          </a:p>
        </p:txBody>
      </p:sp>
      <p:sp>
        <p:nvSpPr>
          <p:cNvPr id="28" name="pain-1-circle"/>
          <p:cNvSpPr/>
          <p:nvPr/>
        </p:nvSpPr>
        <p:spPr>
          <a:xfrm>
            <a:off x="4069080" y="39319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9" name="pain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726" y="4074566"/>
            <a:ext cx="263347" cy="263347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4069080" y="46177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Bağlam kaybolur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Ekran, log ve kullanıcı adımları kayda girmiyor.</a:t>
            </a:r>
            <a:endParaRPr lang="en-US" sz="1600" dirty="0"/>
          </a:p>
        </p:txBody>
      </p:sp>
      <p:sp>
        <p:nvSpPr>
          <p:cNvPr id="31" name="pain-2-circle"/>
          <p:cNvSpPr/>
          <p:nvPr/>
        </p:nvSpPr>
        <p:spPr>
          <a:xfrm>
            <a:off x="6611112" y="39319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2" name="pain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758" y="4074566"/>
            <a:ext cx="263347" cy="263347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611112" y="46177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Bilgi kişilerde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Aynı sorun daha önce çözülmüş ama aranamıyor.</a:t>
            </a:r>
            <a:endParaRPr lang="en-US" sz="1600" dirty="0"/>
          </a:p>
        </p:txBody>
      </p:sp>
      <p:sp>
        <p:nvSpPr>
          <p:cNvPr id="34" name="pain-3-circle"/>
          <p:cNvSpPr/>
          <p:nvPr/>
        </p:nvSpPr>
        <p:spPr>
          <a:xfrm>
            <a:off x="9153144" y="393192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5" name="pain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790" y="4074566"/>
            <a:ext cx="263347" cy="263347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9153144" y="46177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Talepler kopuk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Aynı ekrana gelen yeni talep, o ekranın çağrılarını görmüyor.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Mercek: sorundan plana tek akış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Sorunu müşteri daha çağrı açarken tespit eder, doğru ekibe yönlendirip çözüm önerir ve bu çağrı birikimini yeni taleplerin kapsamına, maliyetine ve takvimine dönüştürür.</a:t>
            </a:r>
            <a:endParaRPr lang="en-US" sz="1800" dirty="0"/>
          </a:p>
        </p:txBody>
      </p:sp>
      <p:sp>
        <p:nvSpPr>
          <p:cNvPr id="4" name="module-card-1"/>
          <p:cNvSpPr/>
          <p:nvPr/>
        </p:nvSpPr>
        <p:spPr>
          <a:xfrm>
            <a:off x="548640" y="2148840"/>
            <a:ext cx="5029200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odule-1-circle"/>
          <p:cNvSpPr/>
          <p:nvPr/>
        </p:nvSpPr>
        <p:spPr>
          <a:xfrm>
            <a:off x="822960" y="24231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module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6014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423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Akıllı Problem Çözüm ve Çağrı Yönetimi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9184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Hatayı müşteri yazmadan tespit eder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Çağrıyı zenginleştirir, doğru ekibe yönlendirir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Geçmiş çözümü bulur; yoksa kodu inceler</a:t>
            </a:r>
            <a:endParaRPr lang="en-US" sz="1600" dirty="0"/>
          </a:p>
        </p:txBody>
      </p:sp>
      <p:sp>
        <p:nvSpPr>
          <p:cNvPr id="9" name="module-card-2"/>
          <p:cNvSpPr/>
          <p:nvPr/>
        </p:nvSpPr>
        <p:spPr>
          <a:xfrm>
            <a:off x="6583680" y="2148840"/>
            <a:ext cx="5029200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module-2-circle"/>
          <p:cNvSpPr/>
          <p:nvPr/>
        </p:nvSpPr>
        <p:spPr>
          <a:xfrm>
            <a:off x="6858000" y="24231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module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308" y="26014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26680" y="2423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Akıllı Talep Analizi, Maliyet ve Takvim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858000" y="329184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Talebi sınıflar, etkilenen servisleri bulur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Benzer taleplerden efor, maliyet, takvim çıkarır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Ekranın çağrı geçmişini kapsama ekler</a:t>
            </a:r>
            <a:endParaRPr lang="en-US" sz="1600" dirty="0"/>
          </a:p>
        </p:txBody>
      </p:sp>
      <p:sp>
        <p:nvSpPr>
          <p:cNvPr id="14" name="bridge-pill"/>
          <p:cNvSpPr/>
          <p:nvPr/>
        </p:nvSpPr>
        <p:spPr>
          <a:xfrm>
            <a:off x="5623560" y="3063240"/>
            <a:ext cx="914400" cy="9601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623560" y="306324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çağrı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kapsam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5257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Hedef kullanıcılar</a:t>
            </a:r>
            <a:endParaRPr lang="en-US" sz="1600" dirty="0"/>
          </a:p>
        </p:txBody>
      </p:sp>
      <p:sp>
        <p:nvSpPr>
          <p:cNvPr id="17" name="user-chip-1"/>
          <p:cNvSpPr/>
          <p:nvPr/>
        </p:nvSpPr>
        <p:spPr>
          <a:xfrm>
            <a:off x="2651760" y="5212080"/>
            <a:ext cx="205740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3492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200400" y="5212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Müşteri</a:t>
            </a:r>
            <a:endParaRPr lang="en-US" sz="1400" dirty="0"/>
          </a:p>
        </p:txBody>
      </p:sp>
      <p:sp>
        <p:nvSpPr>
          <p:cNvPr id="20" name="user-chip-2"/>
          <p:cNvSpPr/>
          <p:nvPr/>
        </p:nvSpPr>
        <p:spPr>
          <a:xfrm>
            <a:off x="4892040" y="5212080"/>
            <a:ext cx="205740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53492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40680" y="5212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L1 / L2 destek</a:t>
            </a:r>
            <a:endParaRPr lang="en-US" sz="1400" dirty="0"/>
          </a:p>
        </p:txBody>
      </p:sp>
      <p:sp>
        <p:nvSpPr>
          <p:cNvPr id="23" name="user-chip-3"/>
          <p:cNvSpPr/>
          <p:nvPr/>
        </p:nvSpPr>
        <p:spPr>
          <a:xfrm>
            <a:off x="7132320" y="5212080"/>
            <a:ext cx="205740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5349240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680960" y="5212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İş analisti</a:t>
            </a:r>
            <a:endParaRPr lang="en-US" sz="1400" dirty="0"/>
          </a:p>
        </p:txBody>
      </p:sp>
      <p:sp>
        <p:nvSpPr>
          <p:cNvPr id="26" name="user-chip-4"/>
          <p:cNvSpPr/>
          <p:nvPr/>
        </p:nvSpPr>
        <p:spPr>
          <a:xfrm>
            <a:off x="9372600" y="5212080"/>
            <a:ext cx="2057400" cy="54864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5480" y="534924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921240" y="5212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Takım lideri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Dört farkımız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Bugünkü çağrı araçları sorunu kaydeder; Mercek sorunu bulur, çözümü önerir ve yeni talebin planına bağlar.</a:t>
            </a:r>
            <a:endParaRPr lang="en-US" sz="1800" dirty="0"/>
          </a:p>
        </p:txBody>
      </p:sp>
      <p:sp>
        <p:nvSpPr>
          <p:cNvPr id="4" name="diff-card-1"/>
          <p:cNvSpPr/>
          <p:nvPr/>
        </p:nvSpPr>
        <p:spPr>
          <a:xfrm>
            <a:off x="54864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iff-1-circle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diff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3509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210312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Proaktif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Müşteri daha yazmadan, o ekranın canlı loglarından olası nedeni söyler ve alternatif yolu gösterir.</a:t>
            </a:r>
            <a:endParaRPr lang="en-US" sz="2200" dirty="0"/>
          </a:p>
        </p:txBody>
      </p:sp>
      <p:sp>
        <p:nvSpPr>
          <p:cNvPr id="8" name="diff-card-2"/>
          <p:cNvSpPr/>
          <p:nvPr/>
        </p:nvSpPr>
        <p:spPr>
          <a:xfrm>
            <a:off x="6263640" y="1783080"/>
            <a:ext cx="53492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iff-2-circle"/>
          <p:cNvSpPr/>
          <p:nvPr/>
        </p:nvSpPr>
        <p:spPr>
          <a:xfrm>
            <a:off x="6583680" y="2148840"/>
            <a:ext cx="777240" cy="777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diff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762" y="235092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35240" y="210312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Kodu okuyan AI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Geçmişte benzeri yoksa ilgili servis kodunu ve SP'yi inceler, satır düzeyinde düzeltme önerir.</a:t>
            </a:r>
            <a:endParaRPr lang="en-US" sz="2200" dirty="0"/>
          </a:p>
        </p:txBody>
      </p:sp>
      <p:sp>
        <p:nvSpPr>
          <p:cNvPr id="12" name="diff-card-3"/>
          <p:cNvSpPr/>
          <p:nvPr/>
        </p:nvSpPr>
        <p:spPr>
          <a:xfrm>
            <a:off x="548640" y="4023360"/>
            <a:ext cx="53492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diff-3-circle"/>
          <p:cNvSpPr/>
          <p:nvPr/>
        </p:nvSpPr>
        <p:spPr>
          <a:xfrm>
            <a:off x="868680" y="4389120"/>
            <a:ext cx="777240" cy="7772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diff-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591202"/>
            <a:ext cx="373075" cy="37307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920240" y="434340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Kapalı döngü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Bir ekranın çağrı birikimi, o ekrana gelen yeni talebin kapsamına ve maliyetine girer.</a:t>
            </a:r>
            <a:endParaRPr lang="en-US" sz="2200" dirty="0"/>
          </a:p>
        </p:txBody>
      </p:sp>
      <p:sp>
        <p:nvSpPr>
          <p:cNvPr id="16" name="diff-card-4"/>
          <p:cNvSpPr/>
          <p:nvPr/>
        </p:nvSpPr>
        <p:spPr>
          <a:xfrm>
            <a:off x="6263640" y="4023360"/>
            <a:ext cx="534924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diff-4-circle"/>
          <p:cNvSpPr/>
          <p:nvPr/>
        </p:nvSpPr>
        <p:spPr>
          <a:xfrm>
            <a:off x="6583680" y="4389120"/>
            <a:ext cx="777240" cy="7772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diff-4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762" y="4591202"/>
            <a:ext cx="373075" cy="37307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635240" y="434340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Güvenilir AI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Hesabı kod yapar, AI açıklar. Eşik altında öneri yok; her öneri kaynağıyla birlikte gelir.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Mimari: Azure üzerinde uçtan uca</a:t>
            </a:r>
            <a:endParaRPr lang="en-US" sz="3600" dirty="0"/>
          </a:p>
        </p:txBody>
      </p:sp>
      <p:sp>
        <p:nvSpPr>
          <p:cNvPr id="3" name="arch-users"/>
          <p:cNvSpPr/>
          <p:nvPr/>
        </p:nvSpPr>
        <p:spPr>
          <a:xfrm>
            <a:off x="548640" y="2148840"/>
            <a:ext cx="1737360" cy="237744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240280"/>
            <a:ext cx="1463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Kullanıcılar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Müşteri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Destek ekibi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İş analisti</a:t>
            </a:r>
            <a:endParaRPr lang="en-US" sz="1600" dirty="0"/>
          </a:p>
        </p:txBody>
      </p:sp>
      <p:sp>
        <p:nvSpPr>
          <p:cNvPr id="5" name="arch-app"/>
          <p:cNvSpPr/>
          <p:nvPr/>
        </p:nvSpPr>
        <p:spPr>
          <a:xfrm>
            <a:off x="2788920" y="2148840"/>
            <a:ext cx="2240280" cy="237744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926080" y="2240280"/>
            <a:ext cx="1965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Azure App Service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React + FastAPI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Tek dağıtım,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sağlık kontrolü</a:t>
            </a:r>
            <a:endParaRPr lang="en-US" sz="1600" dirty="0"/>
          </a:p>
        </p:txBody>
      </p:sp>
      <p:sp>
        <p:nvSpPr>
          <p:cNvPr id="7" name="arch-foundry"/>
          <p:cNvSpPr/>
          <p:nvPr/>
        </p:nvSpPr>
        <p:spPr>
          <a:xfrm>
            <a:off x="5486400" y="1325880"/>
            <a:ext cx="251460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23560" y="141732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Azure AI Foundry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chat + embedding modeli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Yönetilen, kurumsal model erişimi</a:t>
            </a:r>
            <a:endParaRPr lang="en-US" sz="1600" dirty="0"/>
          </a:p>
        </p:txBody>
      </p:sp>
      <p:sp>
        <p:nvSpPr>
          <p:cNvPr id="9" name="arch-sql"/>
          <p:cNvSpPr/>
          <p:nvPr/>
        </p:nvSpPr>
        <p:spPr>
          <a:xfrm>
            <a:off x="5486400" y="2715768"/>
            <a:ext cx="251460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23560" y="2807208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Azure SQL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Log, çağrı, talep, takvim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İlişkisel sorgu ve istatistik</a:t>
            </a:r>
            <a:endParaRPr lang="en-US" sz="1600" dirty="0"/>
          </a:p>
        </p:txBody>
      </p:sp>
      <p:sp>
        <p:nvSpPr>
          <p:cNvPr id="11" name="arch-search"/>
          <p:cNvSpPr/>
          <p:nvPr/>
        </p:nvSpPr>
        <p:spPr>
          <a:xfrm>
            <a:off x="5486400" y="4105656"/>
            <a:ext cx="251460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23560" y="4197096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Azure AI Search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Çözüm, çağrı, talep araması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Vektör + metin (hibrit)</a:t>
            </a:r>
            <a:endParaRPr lang="en-US" sz="1600" dirty="0"/>
          </a:p>
        </p:txBody>
      </p:sp>
      <p:sp>
        <p:nvSpPr>
          <p:cNvPr id="13" name="arrow-users-app"/>
          <p:cNvSpPr/>
          <p:nvPr/>
        </p:nvSpPr>
        <p:spPr>
          <a:xfrm>
            <a:off x="2286000" y="3337560"/>
            <a:ext cx="502920" cy="91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4" name="arrow-app-foundry"/>
          <p:cNvSpPr/>
          <p:nvPr/>
        </p:nvSpPr>
        <p:spPr>
          <a:xfrm flipV="1">
            <a:off x="5029200" y="1938528"/>
            <a:ext cx="457200" cy="107899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arrow-app-sql"/>
          <p:cNvSpPr/>
          <p:nvPr/>
        </p:nvSpPr>
        <p:spPr>
          <a:xfrm flipV="1">
            <a:off x="5029200" y="3328416"/>
            <a:ext cx="457200" cy="914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arrow-app-search"/>
          <p:cNvSpPr/>
          <p:nvPr/>
        </p:nvSpPr>
        <p:spPr>
          <a:xfrm>
            <a:off x="5029200" y="3657600"/>
            <a:ext cx="457200" cy="1060704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arch-cicd"/>
          <p:cNvSpPr/>
          <p:nvPr/>
        </p:nvSpPr>
        <p:spPr>
          <a:xfrm>
            <a:off x="548640" y="5486400"/>
            <a:ext cx="74066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8" name="arch-githu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41848"/>
            <a:ext cx="411480" cy="41148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280160" y="54864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GitHub Actions: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lint · test · audit · gitleaks → build → deploy → health check   </a:t>
            </a:r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GHAS: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CodeQL · Dependabot · secret scanning</a:t>
            </a:r>
            <a:endParaRPr lang="en-US" sz="1300" dirty="0"/>
          </a:p>
        </p:txBody>
      </p:sp>
      <p:sp>
        <p:nvSpPr>
          <p:cNvPr id="20" name="ai-card"/>
          <p:cNvSpPr/>
          <p:nvPr/>
        </p:nvSpPr>
        <p:spPr>
          <a:xfrm>
            <a:off x="8321040" y="1371600"/>
            <a:ext cx="3319272" cy="2331720"/>
          </a:xfrm>
          <a:prstGeom prst="roundRect">
            <a:avLst>
              <a:gd name="adj" fmla="val 470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03920" y="146304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AI ne yapar (Foundry)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Sınıflandırma ve özet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Çağrı zenginleştirme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Çözüm uyarlama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Kod analizi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Gerekçe yazma</a:t>
            </a:r>
            <a:endParaRPr lang="en-US" sz="1600" dirty="0"/>
          </a:p>
        </p:txBody>
      </p:sp>
      <p:sp>
        <p:nvSpPr>
          <p:cNvPr id="22" name="code-card"/>
          <p:cNvSpPr/>
          <p:nvPr/>
        </p:nvSpPr>
        <p:spPr>
          <a:xfrm>
            <a:off x="8321040" y="3886200"/>
            <a:ext cx="3319272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503920" y="397764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Kod ne yapar (kurallar)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Eşik ve güven kararları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Servis ve ekip ataması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Efor ve maliyet hesabı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Takvim planı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AI çıktısını doğrulama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Üç kullanıcı, tek akış</a:t>
            </a:r>
            <a:endParaRPr lang="en-US" sz="3600" dirty="0"/>
          </a:p>
        </p:txBody>
      </p:sp>
      <p:pic>
        <p:nvPicPr>
          <p:cNvPr id="3" name="ux-image-1" descr="/home/claude/zthackathonstudy/presentation/mockups/m-bank-iss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80160"/>
            <a:ext cx="1783080" cy="3657600"/>
          </a:xfrm>
          <a:prstGeom prst="rect">
            <a:avLst/>
          </a:prstGeom>
        </p:spPr>
      </p:pic>
      <p:pic>
        <p:nvPicPr>
          <p:cNvPr id="4" name="ux-image-2" descr="/home/claude/zthackathonstudy/presentation/mockups/m-console-m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920240"/>
            <a:ext cx="4069080" cy="1746504"/>
          </a:xfrm>
          <a:prstGeom prst="rect">
            <a:avLst/>
          </a:prstGeom>
        </p:spPr>
      </p:pic>
      <p:pic>
        <p:nvPicPr>
          <p:cNvPr id="5" name="ux-image-3" descr="/home/claude/zthackathonstudy/presentation/mockups/m-requ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088" y="1920240"/>
            <a:ext cx="4069080" cy="1773936"/>
          </a:xfrm>
          <a:prstGeom prst="rect">
            <a:avLst/>
          </a:prstGeom>
        </p:spPr>
      </p:pic>
      <p:sp>
        <p:nvSpPr>
          <p:cNvPr id="6" name="ux-num-1"/>
          <p:cNvSpPr/>
          <p:nvPr/>
        </p:nvSpPr>
        <p:spPr>
          <a:xfrm>
            <a:off x="548640" y="512064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54864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1051560" y="507492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Ayşe sorunu bildirir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Tek dokunuş; Mercek nedeni ve alternatif yolu söyler.</a:t>
            </a:r>
            <a:endParaRPr lang="en-US" sz="1600" dirty="0"/>
          </a:p>
        </p:txBody>
      </p:sp>
      <p:sp>
        <p:nvSpPr>
          <p:cNvPr id="9" name="ux-num-2"/>
          <p:cNvSpPr/>
          <p:nvPr/>
        </p:nvSpPr>
        <p:spPr>
          <a:xfrm>
            <a:off x="3246120" y="39319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324612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3749040" y="3886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Mert çözümü onaylar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Destek Konsolu: zenginleştirilmiş kayıt, eşleşen çözüm, kaynaklar.</a:t>
            </a:r>
            <a:endParaRPr lang="en-US" sz="1600" dirty="0"/>
          </a:p>
        </p:txBody>
      </p:sp>
      <p:sp>
        <p:nvSpPr>
          <p:cNvPr id="12" name="ux-num-3"/>
          <p:cNvSpPr/>
          <p:nvPr/>
        </p:nvSpPr>
        <p:spPr>
          <a:xfrm>
            <a:off x="7562088" y="393192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56208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8065008" y="3886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Zeynep talebi planlar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Talep Asistanı: etki, efor, takvim ve ekranın çağrı geçmişi.</a:t>
            </a:r>
            <a:endParaRPr lang="en-US" sz="1600" dirty="0"/>
          </a:p>
        </p:txBody>
      </p:sp>
      <p:sp>
        <p:nvSpPr>
          <p:cNvPr id="15" name="draft-note"/>
          <p:cNvSpPr txBox="1"/>
          <p:nvPr/>
        </p:nvSpPr>
        <p:spPr>
          <a:xfrm>
            <a:off x="3246120" y="5989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Taslak görsel — gerçek ekran görüntüsüyle değiştirilecek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Demo: üç sahnede Mercek</a:t>
            </a:r>
            <a:endParaRPr lang="en-US" sz="3600" dirty="0"/>
          </a:p>
        </p:txBody>
      </p:sp>
      <p:sp>
        <p:nvSpPr>
          <p:cNvPr id="3" name="scene-card-1"/>
          <p:cNvSpPr/>
          <p:nvPr/>
        </p:nvSpPr>
        <p:spPr>
          <a:xfrm>
            <a:off x="54864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cene-time-1"/>
          <p:cNvSpPr/>
          <p:nvPr/>
        </p:nvSpPr>
        <p:spPr>
          <a:xfrm>
            <a:off x="777240" y="15544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~60 sn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Sahne 1 · Para gönderemiyorum</a:t>
            </a:r>
            <a:endParaRPr lang="en-US" sz="1700" dirty="0"/>
          </a:p>
        </p:txBody>
      </p:sp>
      <p:pic>
        <p:nvPicPr>
          <p:cNvPr id="7" name="demo-image-1" descr="/home/claude/zthackathonstudy/presentation/mockups/m-bank-t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0503" y="2468880"/>
            <a:ext cx="1136713" cy="23317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48920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Ayşe EFT yapamıyor. Mercek o yazmadan nedeni söylüyor, havale yolunu gösteriyor ve çağrıyı açıyor.</a:t>
            </a:r>
            <a:endParaRPr lang="en-US" sz="1400" dirty="0"/>
          </a:p>
        </p:txBody>
      </p:sp>
      <p:sp>
        <p:nvSpPr>
          <p:cNvPr id="9" name="scene-card-2"/>
          <p:cNvSpPr/>
          <p:nvPr/>
        </p:nvSpPr>
        <p:spPr>
          <a:xfrm>
            <a:off x="429768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cene-time-2"/>
          <p:cNvSpPr/>
          <p:nvPr/>
        </p:nvSpPr>
        <p:spPr>
          <a:xfrm>
            <a:off x="4526280" y="15544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5544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~60 sn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1965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Sahne 2 · AI kodu okur</a:t>
            </a:r>
            <a:endParaRPr lang="en-US" sz="1700" dirty="0"/>
          </a:p>
        </p:txBody>
      </p:sp>
      <p:pic>
        <p:nvPicPr>
          <p:cNvPr id="13" name="demo-image-2" descr="/home/claude/zthackathonstudy/presentation/mockups/m-console-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3008930"/>
            <a:ext cx="3063240" cy="125162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26280" y="48920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Mert %93 eşleşmeyle çözümü görüyor. Eşleşmeyen çağrıda Mercek SP'deki yuvarlama hatasını buluyor.</a:t>
            </a:r>
            <a:endParaRPr lang="en-US" sz="1400" dirty="0"/>
          </a:p>
        </p:txBody>
      </p:sp>
      <p:sp>
        <p:nvSpPr>
          <p:cNvPr id="15" name="scene-card-3"/>
          <p:cNvSpPr/>
          <p:nvPr/>
        </p:nvSpPr>
        <p:spPr>
          <a:xfrm>
            <a:off x="8046720" y="1371600"/>
            <a:ext cx="3520440" cy="48006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cene-time-3"/>
          <p:cNvSpPr/>
          <p:nvPr/>
        </p:nvSpPr>
        <p:spPr>
          <a:xfrm>
            <a:off x="8275320" y="15544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75320" y="15544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~30 sn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8275320" y="19659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Sahne 3 · Talepten plana</a:t>
            </a:r>
            <a:endParaRPr lang="en-US" sz="1700" dirty="0"/>
          </a:p>
        </p:txBody>
      </p:sp>
      <p:pic>
        <p:nvPicPr>
          <p:cNvPr id="19" name="demo-image-3" descr="/home/claude/zthackathonstudy/presentation/mockups/m-requ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967049"/>
            <a:ext cx="3063240" cy="133538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75320" y="489204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Zeynep'in talebi için etki, efor, takvim. 312 çağrının kalıcı çözümü kapsama giriyor.</a:t>
            </a:r>
            <a:endParaRPr lang="en-US" sz="1400" dirty="0"/>
          </a:p>
        </p:txBody>
      </p:sp>
      <p:sp>
        <p:nvSpPr>
          <p:cNvPr id="21" name="draft-note"/>
          <p:cNvSpPr txBox="1"/>
          <p:nvPr/>
        </p:nvSpPr>
        <p:spPr>
          <a:xfrm>
            <a:off x="548640" y="6199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Taslak görsel — gerçek ekran görüntüsüyle değiştirilecek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İş değeri: önce ve sonra</a:t>
            </a:r>
            <a:endParaRPr lang="en-US" sz="3600" dirty="0"/>
          </a:p>
        </p:txBody>
      </p:sp>
      <p:sp>
        <p:nvSpPr>
          <p:cNvPr id="3" name="stat-card-1"/>
          <p:cNvSpPr/>
          <p:nvPr/>
        </p:nvSpPr>
        <p:spPr>
          <a:xfrm>
            <a:off x="548640" y="1371600"/>
            <a:ext cx="35204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Saatler → saniyeler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Sorunun ilk tespiti</a:t>
            </a:r>
            <a:endParaRPr lang="en-US" sz="2400" dirty="0"/>
          </a:p>
        </p:txBody>
      </p:sp>
      <p:sp>
        <p:nvSpPr>
          <p:cNvPr id="5" name="stat-card-2"/>
          <p:cNvSpPr/>
          <p:nvPr/>
        </p:nvSpPr>
        <p:spPr>
          <a:xfrm>
            <a:off x="4297680" y="1371600"/>
            <a:ext cx="35204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0" y="14630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Tek cümle → tam kayıt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Çağrı kaydının kalitesi</a:t>
            </a:r>
            <a:endParaRPr lang="en-US" sz="2400" dirty="0"/>
          </a:p>
        </p:txBody>
      </p:sp>
      <p:sp>
        <p:nvSpPr>
          <p:cNvPr id="7" name="stat-card-3"/>
          <p:cNvSpPr/>
          <p:nvPr/>
        </p:nvSpPr>
        <p:spPr>
          <a:xfrm>
            <a:off x="8046720" y="1371600"/>
            <a:ext cx="35204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0" y="146304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Günler → dakikalar</a:t>
            </a:r>
            <a:endParaRPr lang="en-US" sz="2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Talep efor tahmini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42976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Bugün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Mercek 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 ekibe yönlendirme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tahmini, yeniden atamalar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 kodu ve servis haritasıyla ilk seferde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Bilinen sorunun çözümü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Bilgi kişilerde, aranamıyor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Geçmiş çözüm saniyeler içinde, kaynaklı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Yeni sorunun kök nedeni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Ekip kodu baştan inceler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Satır düzeyinde düzeltme önerisi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Talep kapsamı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Çağrı verisinden kopuk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Ekranın çağrı geçmişi kapsamda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Yaygınlaştırma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kanal ve uygulama ayrı süreç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Aynı yapı tüm dijital kanallara ve iç uygulamalara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Rakamlar sentetik veriye ve varsayımlara dayanır; demo ölçümleriyle güncellenecek.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Neredeyiz, sırada ne var</a:t>
            </a:r>
            <a:endParaRPr lang="en-US" sz="3600" dirty="0"/>
          </a:p>
        </p:txBody>
      </p:sp>
      <p:sp>
        <p:nvSpPr>
          <p:cNvPr id="3" name="next-card-1"/>
          <p:cNvSpPr/>
          <p:nvPr/>
        </p:nvSpPr>
        <p:spPr>
          <a:xfrm>
            <a:off x="548640" y="137160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ext-1-circle"/>
          <p:cNvSpPr/>
          <p:nvPr/>
        </p:nvSpPr>
        <p:spPr>
          <a:xfrm>
            <a:off x="822960" y="164592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next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18242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45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Tamamlanan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2971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M1: tespit, zenginleştirme, eşleştirme, kod analizi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M2: sınıflandırma, etki, efor, takvim, köprü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Azure: App Service, Foundry, SQL, AI Search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CI/CD ve PR'da güvenlik taraması</a:t>
            </a:r>
            <a:endParaRPr lang="en-US" sz="1500" dirty="0"/>
          </a:p>
        </p:txBody>
      </p:sp>
      <p:sp>
        <p:nvSpPr>
          <p:cNvPr id="8" name="next-card-2"/>
          <p:cNvSpPr/>
          <p:nvPr/>
        </p:nvSpPr>
        <p:spPr>
          <a:xfrm>
            <a:off x="4297680" y="137160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ext-2-circle"/>
          <p:cNvSpPr/>
          <p:nvPr/>
        </p:nvSpPr>
        <p:spPr>
          <a:xfrm>
            <a:off x="4572000" y="164592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next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08" y="18242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645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Sınırlamalar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560320"/>
            <a:ext cx="2971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Veri tamamen sentetik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Gerçek log, çağrı ve kod entegrasyonu yok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Kod düzeltmeleri öneri; uygulama insan onaylı</a:t>
            </a:r>
            <a:endParaRPr lang="en-US" sz="1500" dirty="0"/>
          </a:p>
        </p:txBody>
      </p:sp>
      <p:sp>
        <p:nvSpPr>
          <p:cNvPr id="13" name="next-card-3"/>
          <p:cNvSpPr/>
          <p:nvPr/>
        </p:nvSpPr>
        <p:spPr>
          <a:xfrm>
            <a:off x="8046720" y="137160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ext-3-circle"/>
          <p:cNvSpPr/>
          <p:nvPr/>
        </p:nvSpPr>
        <p:spPr>
          <a:xfrm>
            <a:off x="8321040" y="16459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next-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348" y="182422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0" y="16459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Canlıya geçiş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560320"/>
            <a:ext cx="2971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Log, çağrı ve kod reposu için salt-okur entegrasyon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KVKK: loglarda maskeleme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Pilot: tek kanal, tek ekran (Para Transferi)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AI maliyeti ve doğruluğunun izlenmesi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Ekler</a:t>
            </a:r>
            <a:endParaRPr lang="en-US" sz="4000" dirty="0"/>
          </a:p>
        </p:txBody>
      </p:sp>
      <p:sp>
        <p:nvSpPr>
          <p:cNvPr id="3" name="link-1-circle"/>
          <p:cNvSpPr/>
          <p:nvPr/>
        </p:nvSpPr>
        <p:spPr>
          <a:xfrm>
            <a:off x="731520" y="192024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4" name="link-1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2098548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874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GitHub repository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[repo bağlantısı]</a:t>
            </a:r>
            <a:endParaRPr lang="en-US" sz="1800" dirty="0"/>
          </a:p>
        </p:txBody>
      </p:sp>
      <p:sp>
        <p:nvSpPr>
          <p:cNvPr id="6" name="link-2-circle"/>
          <p:cNvSpPr/>
          <p:nvPr/>
        </p:nvSpPr>
        <p:spPr>
          <a:xfrm>
            <a:off x="731520" y="297180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link-2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" y="3150108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29260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Web uygulaması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[mercek-app adresi]</a:t>
            </a:r>
            <a:endParaRPr lang="en-US" sz="1800" dirty="0"/>
          </a:p>
        </p:txBody>
      </p:sp>
      <p:sp>
        <p:nvSpPr>
          <p:cNvPr id="9" name="link-3-circle"/>
          <p:cNvSpPr/>
          <p:nvPr/>
        </p:nvSpPr>
        <p:spPr>
          <a:xfrm>
            <a:off x="731520" y="402336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link-3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4201668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45920" y="3977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Demo videosu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</a:rPr>
              <a:t>[video bağlantısı]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731520" y="5257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bg2"/>
                </a:solidFill>
              </a:rPr>
              <a:t>Soruna odaklanır, çözümü netleştirir.</a:t>
            </a:r>
            <a:endParaRPr lang="en-US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731520" y="58064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Teşekkürler · AI Overflow</a:t>
            </a:r>
            <a:endParaRPr lang="en-US" sz="1600" dirty="0"/>
          </a:p>
        </p:txBody>
      </p:sp>
      <p:sp>
        <p:nvSpPr>
          <p:cNvPr id="14" name="lens-outer"/>
          <p:cNvSpPr/>
          <p:nvPr/>
        </p:nvSpPr>
        <p:spPr>
          <a:xfrm>
            <a:off x="7406640" y="1371600"/>
            <a:ext cx="4114800" cy="4114800"/>
          </a:xfrm>
          <a:prstGeom prst="ellipse">
            <a:avLst/>
          </a:prstGeom>
          <a:ln w="76200">
            <a:solidFill>
              <a:schemeClr val="accent1"/>
            </a:solidFill>
            <a:prstDash val="solid"/>
          </a:ln>
        </p:spPr>
      </p:sp>
      <p:sp>
        <p:nvSpPr>
          <p:cNvPr id="15" name="lens-inner"/>
          <p:cNvSpPr/>
          <p:nvPr/>
        </p:nvSpPr>
        <p:spPr>
          <a:xfrm>
            <a:off x="8188452" y="2153412"/>
            <a:ext cx="2551176" cy="2551176"/>
          </a:xfrm>
          <a:prstGeom prst="ellipse">
            <a:avLst/>
          </a:prstGeom>
          <a:ln w="38100">
            <a:solidFill>
              <a:schemeClr val="accent2"/>
            </a:solidFill>
            <a:prstDash val="solid"/>
          </a:ln>
        </p:spPr>
      </p:sp>
      <p:sp>
        <p:nvSpPr>
          <p:cNvPr id="16" name="lens-core"/>
          <p:cNvSpPr/>
          <p:nvPr/>
        </p:nvSpPr>
        <p:spPr>
          <a:xfrm>
            <a:off x="9011412" y="2976372"/>
            <a:ext cx="905256" cy="9052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Mercek">
  <a:themeElements>
    <a:clrScheme name="Mercek">
      <a:dk1>
        <a:srgbClr val="17202A"/>
      </a:dk1>
      <a:lt1>
        <a:srgbClr val="FFFFFF"/>
      </a:lt1>
      <a:dk2>
        <a:srgbClr val="2B3A67"/>
      </a:dk2>
      <a:lt2>
        <a:srgbClr val="F4F6F8"/>
      </a:lt2>
      <a:accent1>
        <a:srgbClr val="E8A33D"/>
      </a:accent1>
      <a:accent2>
        <a:srgbClr val="2A9D8F"/>
      </a:accent2>
      <a:accent3>
        <a:srgbClr val="E76F51"/>
      </a:accent3>
      <a:accent4>
        <a:srgbClr val="2B3A67"/>
      </a:accent4>
      <a:accent5>
        <a:srgbClr val="5B6673"/>
      </a:accent5>
      <a:accent6>
        <a:srgbClr val="C8424B"/>
      </a:accent6>
      <a:hlink>
        <a:srgbClr val="2A9D8F"/>
      </a:hlink>
      <a:folHlink>
        <a:srgbClr val="2B3A67"/>
      </a:folHlink>
    </a:clrScheme>
    <a:fontScheme name="Merce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Mercek — AI Overflow</dc:title>
  <dc:subject>PptxGenJS Presentation</dc:subject>
  <dc:creator>AI Overflow</dc:creator>
  <cp:lastModifiedBy>AI Overflow</cp:lastModifiedBy>
  <cp:revision>1</cp:revision>
  <dcterms:created xsi:type="dcterms:W3CDTF">2026-10-15T07:09:26Z</dcterms:created>
  <dcterms:modified xsi:type="dcterms:W3CDTF">2026-10-15T07:09:26Z</dcterms:modified>
</cp:coreProperties>
</file>