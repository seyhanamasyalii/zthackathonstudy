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çılış" id="{09af6821-7671-46e2-a895-ba208dae7262}">
          <p14:sldIdLst>
            <p14:sldId id="256"/>
            <p14:sldId id="257"/>
          </p14:sldIdLst>
        </p14:section>
        <p14:section name="Problem ve çözüm" id="{8fca1847-e842-dd58-3b6e-aad0601d5fa8}">
          <p14:sldIdLst>
            <p14:sldId id="258"/>
            <p14:sldId id="259"/>
            <p14:sldId id="260"/>
          </p14:sldIdLst>
        </p14:section>
        <p14:section name="Ürün" id="{5d874860-57a7-3349-037c-33dcd6f402ab}">
          <p14:sldIdLst>
            <p14:sldId id="261"/>
            <p14:sldId id="262"/>
            <p14:sldId id="263"/>
          </p14:sldIdLst>
        </p14:section>
        <p14:section name="Değer ve kapanış" id="{f4bfd0a0-9299-8d09-8c68-a757cfc56efc}">
          <p14:sldIdLst>
            <p14:sldId id="264"/>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0:00–0:10 · Merhaba, biz AI Overflow. Projemizin adı Mercek: soruna odaklanır, çözümü netleştirir.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0:10–0:20 · Takımı tek cümleyle tanıtın. (Ad, birim ve rolleri doldurun; fotoğraf eklenecekse daire içine yerleştirin.)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0:20–0:40 · Şube personeli işlem yapamadığında hata mı kural mı bilemiyor, çağrı açıyor. L1 ve L2 Kibana'da log arıyor, aynı kurum sorunu için onlarca çağrı açılıyor, bilinen çözümler kişilerde kalıyor. Yeni talepler de bu sorunlardan habersiz planlanıyor.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0:40–0:50 · Tek cümle çözüm. İki modül ve köprü: loglar, çağrı ve müşteri verisi talep kapsamına giriyor. Mercek'i müşteri değil banka çalışanları kullanıyor.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0:50–0:58 · Mercek çağrıyı kaydetmekle kalmıyor: açıklıyor, birleştiriyor, koda bağlıyor ve talebi gerekçelendiriyor. AI'ın rolü sınırlı ve denetlenebilir.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0:58–1:05 · İki App Service (web ve api), Foundry'de sohbet ve embedding modeli, SQL yapısal veri, AI Search hibrit arama. CI/CD her PR'da test ve güvenlik taraması yapıyor. Sağda AI'ın ve kuralların işi. (Yalnızca gerçekten çalışan servisler bu slaytta kalmalı.)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1:05–1:20 · Mercek'in altı kullanım senaryosu. 'CANLI' etiketliler birazdan canlı gösterilecek; diğerleri ekran görüntüsü veya kısa videoyla. (2. gün 12:00 kod dondurmada etiketleri gerçek duruma göre güncelleyin: canlı demoya yalnızca deploy edilmiş ortamda doğrulaması yeşil ve 3 provada hatasız olan senaryolar girer.)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1:20–4:15 · CANLI DEMO (~3 dk), önce demo_reset çalıştırılmış olmalı. A: Elif KRDTKULL 400.000 / 3 ay → Sorun yaşıyorum → iş kuralı kartı → Bana göster. B: Mehmet ODMTFATR Başkentgaz (odm-dogalgaz turu) → Zeynep Mercek'e yazar → müşteriye söylenecek metin, CAG-2051 bağlı vaka 12 → Kerem %93 eşleşme. C: Elif İSKİ metni → 412 / %97 / 13 hane, duyuru → Kerem: %35, kod analizi, diff, ASKİ. D: Fatma talebi → analiz kartları → önerileri kabul et → 18 a/g, 9 Kasım–2 Aralık → köprü → Evet → 20 a/g, 4 Aralık. Canlıda olmayan sahneyi ekran görüntüsüyle 15 sn'de geçin; bir sahne bozulursa videosuna geçin.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4:15–4:45 · Önce/sonra. Demo sırasında artan sayaçları ve ölçülen analiz süresini söyleyin. Varsayımları açıkça belirtin.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4:45–4:55 · 'Tamamlanan' listesini 2. gün 12:00'de gerçek duruma göre güncelleyin. S-C: AI yanlışsa → eşik, kaynak, sayı doğrulaması, insan onayı. Maliyet → küçük model, kısa bağlam, analiz başına ölçülen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4:55–5:00 · Sloganla kapatın. Bağlantıları sunumdan önce doldurun; şifre, anahtar veya gerçek müşteri verisi görünmediğini kontrol edin.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rtlCol="0"/>
          <a:lstStyle>
            <a:lvl1pPr indent="0" marL="0">
              <a:buNone/>
              <a:defRPr lang="en-US" sz="3600" b="1" dirty="0">
                <a:solidFill>
                  <a:schemeClr val="tx1"/>
                </a:solidFill>
              </a:defRPr>
            </a:lvl1pPr>
          </a:lstStyle>
          <a:p>
            <a:pPr indent="0" marL="0">
              <a:buNone/>
            </a:pPr>
            <a:endParaRPr lang="en-US" sz="3600" dirty="0"/>
          </a:p>
        </p:txBody>
      </p:sp>
      <p:sp>
        <p:nvSpPr>
          <p:cNvPr id="3" name="Text 0"/>
          <p:cNvSpPr/>
          <p:nvPr/>
        </p:nvSpPr>
        <p:spPr>
          <a:xfrm>
            <a:off x="548640" y="6400800"/>
            <a:ext cx="3657600" cy="274320"/>
          </a:xfrm>
          <a:prstGeom prst="rect">
            <a:avLst/>
          </a:prstGeom>
          <a:noFill/>
          <a:ln/>
        </p:spPr>
        <p:txBody>
          <a:bodyPr wrap="square" lIns="0" tIns="0" rIns="0" bIns="0" rtlCol="0" anchor="ctr"/>
          <a:lstStyle/>
          <a:p>
            <a:pPr indent="0" marL="0">
              <a:buNone/>
            </a:pPr>
            <a:r>
              <a:rPr lang="en-US" sz="1000" dirty="0">
                <a:solidFill>
                  <a:schemeClr val="accent5"/>
                </a:solidFill>
              </a:rPr>
              <a:t>AI Overflow · Mercek</a:t>
            </a:r>
            <a:endParaRPr lang="en-US" sz="10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417320"/>
            <a:ext cx="6766560" cy="365760"/>
          </a:xfrm>
          <a:prstGeom prst="rect">
            <a:avLst/>
          </a:prstGeom>
          <a:noFill/>
          <a:ln/>
        </p:spPr>
        <p:txBody>
          <a:bodyPr wrap="square" lIns="0" tIns="0" rIns="0" bIns="0" rtlCol="0" anchor="ctr"/>
          <a:lstStyle/>
          <a:p>
            <a:pPr indent="0" marL="0">
              <a:buNone/>
            </a:pPr>
            <a:r>
              <a:rPr lang="en-US" sz="1400" b="1" spc="300" kern="0" dirty="0">
                <a:solidFill>
                  <a:schemeClr val="accent1"/>
                </a:solidFill>
              </a:rPr>
              <a:t>ZİRAAT TEKNOLOJİ YAPAY ZEKA HACKATHONU · TEMA 2</a:t>
            </a:r>
            <a:endParaRPr lang="en-US" sz="1400" dirty="0"/>
          </a:p>
        </p:txBody>
      </p:sp>
      <p:sp>
        <p:nvSpPr>
          <p:cNvPr id="3" name="Text 1"/>
          <p:cNvSpPr txBox="1"/>
          <p:nvPr/>
        </p:nvSpPr>
        <p:spPr>
          <a:xfrm>
            <a:off x="731520" y="1874520"/>
            <a:ext cx="6766560" cy="1371600"/>
          </a:xfrm>
          <a:prstGeom prst="rect">
            <a:avLst/>
          </a:prstGeom>
          <a:noFill/>
          <a:ln/>
        </p:spPr>
        <p:txBody>
          <a:bodyPr wrap="square" lIns="0" tIns="0" rIns="0" bIns="0" rtlCol="0" anchor="ctr"/>
          <a:lstStyle/>
          <a:p>
            <a:pPr indent="0" marL="0">
              <a:buNone/>
            </a:pPr>
            <a:r>
              <a:rPr lang="en-US" sz="8800" b="1" dirty="0">
                <a:solidFill>
                  <a:schemeClr val="bg1"/>
                </a:solidFill>
              </a:rPr>
              <a:t>Mercek</a:t>
            </a:r>
            <a:endParaRPr lang="en-US" sz="8800" dirty="0"/>
          </a:p>
        </p:txBody>
      </p:sp>
      <p:sp>
        <p:nvSpPr>
          <p:cNvPr id="4" name="Text 2"/>
          <p:cNvSpPr txBox="1"/>
          <p:nvPr/>
        </p:nvSpPr>
        <p:spPr>
          <a:xfrm>
            <a:off x="731520" y="3291840"/>
            <a:ext cx="6766560" cy="640080"/>
          </a:xfrm>
          <a:prstGeom prst="rect">
            <a:avLst/>
          </a:prstGeom>
          <a:noFill/>
          <a:ln/>
        </p:spPr>
        <p:txBody>
          <a:bodyPr wrap="square" lIns="0" tIns="0" rIns="0" bIns="0" rtlCol="0" anchor="ctr"/>
          <a:lstStyle/>
          <a:p>
            <a:pPr indent="0" marL="0">
              <a:buNone/>
            </a:pPr>
            <a:r>
              <a:rPr lang="en-US" sz="2800" i="1" dirty="0">
                <a:solidFill>
                  <a:schemeClr val="bg2"/>
                </a:solidFill>
              </a:rPr>
              <a:t>Soruna odaklanır, çözümü netleştirir.</a:t>
            </a:r>
            <a:endParaRPr lang="en-US" sz="2800" dirty="0"/>
          </a:p>
        </p:txBody>
      </p:sp>
      <p:sp>
        <p:nvSpPr>
          <p:cNvPr id="5" name="Text 3"/>
          <p:cNvSpPr txBox="1"/>
          <p:nvPr/>
        </p:nvSpPr>
        <p:spPr>
          <a:xfrm>
            <a:off x="731520" y="4800600"/>
            <a:ext cx="6766560" cy="411480"/>
          </a:xfrm>
          <a:prstGeom prst="rect">
            <a:avLst/>
          </a:prstGeom>
          <a:noFill/>
          <a:ln/>
        </p:spPr>
        <p:txBody>
          <a:bodyPr wrap="square" lIns="0" tIns="0" rIns="0" bIns="0" rtlCol="0" anchor="ctr"/>
          <a:lstStyle/>
          <a:p>
            <a:pPr indent="0" marL="0">
              <a:buNone/>
            </a:pPr>
            <a:r>
              <a:rPr lang="en-US" sz="2000" b="1" dirty="0">
                <a:solidFill>
                  <a:schemeClr val="bg1"/>
                </a:solidFill>
              </a:rPr>
              <a:t>AI Overflow takımı</a:t>
            </a:r>
            <a:endParaRPr lang="en-US" sz="2000" dirty="0"/>
          </a:p>
        </p:txBody>
      </p:sp>
      <p:sp>
        <p:nvSpPr>
          <p:cNvPr id="6" name="Text 4"/>
          <p:cNvSpPr txBox="1"/>
          <p:nvPr/>
        </p:nvSpPr>
        <p:spPr>
          <a:xfrm>
            <a:off x="731520" y="5212080"/>
            <a:ext cx="6766560" cy="365760"/>
          </a:xfrm>
          <a:prstGeom prst="rect">
            <a:avLst/>
          </a:prstGeom>
          <a:noFill/>
          <a:ln/>
        </p:spPr>
        <p:txBody>
          <a:bodyPr wrap="square" lIns="0" tIns="0" rIns="0" bIns="0" rtlCol="0" anchor="ctr"/>
          <a:lstStyle/>
          <a:p>
            <a:pPr indent="0" marL="0">
              <a:buNone/>
            </a:pPr>
            <a:r>
              <a:rPr lang="en-US" sz="1600" dirty="0">
                <a:solidFill>
                  <a:schemeClr val="bg2"/>
                </a:solidFill>
              </a:rPr>
              <a:t>17 Ekim 2026</a:t>
            </a:r>
            <a:endParaRPr lang="en-US" sz="1600" dirty="0"/>
          </a:p>
        </p:txBody>
      </p:sp>
      <p:sp>
        <p:nvSpPr>
          <p:cNvPr id="7" name="lens-outer"/>
          <p:cNvSpPr/>
          <p:nvPr/>
        </p:nvSpPr>
        <p:spPr>
          <a:xfrm>
            <a:off x="7406640" y="1371600"/>
            <a:ext cx="4114800" cy="4114800"/>
          </a:xfrm>
          <a:prstGeom prst="ellipse">
            <a:avLst/>
          </a:prstGeom>
          <a:ln w="76200">
            <a:solidFill>
              <a:schemeClr val="accent1"/>
            </a:solidFill>
            <a:prstDash val="solid"/>
          </a:ln>
        </p:spPr>
      </p:sp>
      <p:sp>
        <p:nvSpPr>
          <p:cNvPr id="8" name="lens-inner"/>
          <p:cNvSpPr/>
          <p:nvPr/>
        </p:nvSpPr>
        <p:spPr>
          <a:xfrm>
            <a:off x="8188452" y="2153412"/>
            <a:ext cx="2551176" cy="2551176"/>
          </a:xfrm>
          <a:prstGeom prst="ellipse">
            <a:avLst/>
          </a:prstGeom>
          <a:ln w="38100">
            <a:solidFill>
              <a:schemeClr val="accent2"/>
            </a:solidFill>
            <a:prstDash val="solid"/>
          </a:ln>
        </p:spPr>
      </p:sp>
      <p:sp>
        <p:nvSpPr>
          <p:cNvPr id="9" name="lens-core"/>
          <p:cNvSpPr/>
          <p:nvPr/>
        </p:nvSpPr>
        <p:spPr>
          <a:xfrm>
            <a:off x="9011412" y="2976372"/>
            <a:ext cx="905256" cy="905256"/>
          </a:xfrm>
          <a:prstGeom prst="ellipse">
            <a:avLst/>
          </a:prstGeom>
          <a:solidFill>
            <a:schemeClr val="accent1"/>
          </a:solidFill>
          <a:ln w="12700">
            <a:solidFill>
              <a:schemeClr val="accent1"/>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indent="0" marL="0">
              <a:buNone/>
            </a:pPr>
            <a:r>
              <a:rPr lang="en-US" sz="3600" b="1" dirty="0">
                <a:solidFill>
                  <a:schemeClr val="tx1"/>
                </a:solidFill>
              </a:rPr>
              <a:t>AI Overflow takımı</a:t>
            </a:r>
            <a:endParaRPr lang="en-US" sz="3600" dirty="0"/>
          </a:p>
        </p:txBody>
      </p:sp>
      <p:sp>
        <p:nvSpPr>
          <p:cNvPr id="3" name="team-card-1"/>
          <p:cNvSpPr/>
          <p:nvPr/>
        </p:nvSpPr>
        <p:spPr>
          <a:xfrm>
            <a:off x="548640" y="1600200"/>
            <a:ext cx="2075688" cy="3977640"/>
          </a:xfrm>
          <a:prstGeom prst="roundRect">
            <a:avLst>
              <a:gd name="adj" fmla="val 5286"/>
            </a:avLst>
          </a:prstGeom>
          <a:solidFill>
            <a:schemeClr val="bg2"/>
          </a:solidFill>
          <a:ln w="12700">
            <a:solidFill>
              <a:schemeClr val="bg2"/>
            </a:solidFill>
            <a:prstDash val="solid"/>
          </a:ln>
        </p:spPr>
      </p:sp>
      <p:sp>
        <p:nvSpPr>
          <p:cNvPr id="4" name="team-photo-1"/>
          <p:cNvSpPr/>
          <p:nvPr/>
        </p:nvSpPr>
        <p:spPr>
          <a:xfrm>
            <a:off x="992124" y="1965960"/>
            <a:ext cx="1188720" cy="1188720"/>
          </a:xfrm>
          <a:prstGeom prst="ellipse">
            <a:avLst/>
          </a:prstGeom>
          <a:solidFill>
            <a:schemeClr val="bg1"/>
          </a:solidFill>
          <a:ln w="38100">
            <a:solidFill>
              <a:schemeClr val="accent1"/>
            </a:solidFill>
            <a:prstDash val="solid"/>
          </a:ln>
        </p:spPr>
      </p:sp>
      <p:pic>
        <p:nvPicPr>
          <p:cNvPr id="5" name="team-photo-icon-1" descr="preencoded.png">    </p:cNvPr>
          <p:cNvPicPr>
            <a:picLocks noChangeAspect="1"/>
          </p:cNvPicPr>
          <p:nvPr/>
        </p:nvPicPr>
        <p:blipFill>
          <a:blip r:embed="rId1"/>
          <a:stretch>
            <a:fillRect/>
          </a:stretch>
        </p:blipFill>
        <p:spPr>
          <a:xfrm>
            <a:off x="1312164" y="2286000"/>
            <a:ext cx="548640" cy="548640"/>
          </a:xfrm>
          <a:prstGeom prst="rect">
            <a:avLst/>
          </a:prstGeom>
        </p:spPr>
      </p:pic>
      <p:sp>
        <p:nvSpPr>
          <p:cNvPr id="6" name="team-text-1"/>
          <p:cNvSpPr txBox="1"/>
          <p:nvPr/>
        </p:nvSpPr>
        <p:spPr>
          <a:xfrm>
            <a:off x="685800" y="3383280"/>
            <a:ext cx="1801368" cy="1920240"/>
          </a:xfrm>
          <a:prstGeom prst="rect">
            <a:avLst/>
          </a:prstGeom>
          <a:noFill/>
          <a:ln/>
        </p:spPr>
        <p:txBody>
          <a:bodyPr wrap="square" lIns="0" tIns="0" rIns="0" bIns="0" rtlCol="0" anchor="t"/>
          <a:lstStyle/>
          <a:p>
            <a:pPr algn="ctr" indent="0" marL="0">
              <a:buNone/>
            </a:pPr>
            <a:r>
              <a:rPr lang="en-US" sz="1800" b="1" dirty="0">
                <a:solidFill>
                  <a:schemeClr val="tx1"/>
                </a:solidFill>
              </a:rPr>
              <a:t>Ad Soyad</a:t>
            </a:r>
            <a:endParaRPr lang="en-US" sz="1800" dirty="0"/>
          </a:p>
          <a:p>
            <a:pPr algn="ctr" indent="0" marL="0">
              <a:buNone/>
            </a:pPr>
            <a:r>
              <a:rPr lang="en-US" sz="1400" dirty="0">
                <a:solidFill>
                  <a:schemeClr val="accent5"/>
                </a:solidFill>
              </a:rPr>
              <a:t>Birim</a:t>
            </a:r>
            <a:endParaRPr lang="en-US" sz="1800" dirty="0"/>
          </a:p>
          <a:p>
            <a:pPr algn="ctr" indent="0" marL="0">
              <a:buNone/>
            </a:pPr>
            <a:r>
              <a:rPr lang="en-US" sz="800" dirty="0">
                <a:solidFill>
                  <a:srgbClr val="000000"/>
                </a:solidFill>
              </a:rPr>
              <a:t> </a:t>
            </a:r>
            <a:endParaRPr lang="en-US" sz="1800" dirty="0"/>
          </a:p>
          <a:p>
            <a:pPr algn="ctr" indent="0" marL="0">
              <a:buNone/>
            </a:pPr>
            <a:r>
              <a:rPr lang="en-US" sz="1400" dirty="0">
                <a:solidFill>
                  <a:schemeClr val="tx2"/>
                </a:solidFill>
              </a:rPr>
              <a:t>Projedeki rolü</a:t>
            </a:r>
            <a:endParaRPr lang="en-US" sz="1800" dirty="0"/>
          </a:p>
        </p:txBody>
      </p:sp>
      <p:sp>
        <p:nvSpPr>
          <p:cNvPr id="7" name="team-card-2"/>
          <p:cNvSpPr/>
          <p:nvPr/>
        </p:nvSpPr>
        <p:spPr>
          <a:xfrm>
            <a:off x="2807208" y="1600200"/>
            <a:ext cx="2075688" cy="3977640"/>
          </a:xfrm>
          <a:prstGeom prst="roundRect">
            <a:avLst>
              <a:gd name="adj" fmla="val 5286"/>
            </a:avLst>
          </a:prstGeom>
          <a:solidFill>
            <a:schemeClr val="bg2"/>
          </a:solidFill>
          <a:ln w="12700">
            <a:solidFill>
              <a:schemeClr val="bg2"/>
            </a:solidFill>
            <a:prstDash val="solid"/>
          </a:ln>
        </p:spPr>
      </p:sp>
      <p:sp>
        <p:nvSpPr>
          <p:cNvPr id="8" name="team-photo-2"/>
          <p:cNvSpPr/>
          <p:nvPr/>
        </p:nvSpPr>
        <p:spPr>
          <a:xfrm>
            <a:off x="3250692" y="1965960"/>
            <a:ext cx="1188720" cy="1188720"/>
          </a:xfrm>
          <a:prstGeom prst="ellipse">
            <a:avLst/>
          </a:prstGeom>
          <a:solidFill>
            <a:schemeClr val="bg1"/>
          </a:solidFill>
          <a:ln w="38100">
            <a:solidFill>
              <a:schemeClr val="accent1"/>
            </a:solidFill>
            <a:prstDash val="solid"/>
          </a:ln>
        </p:spPr>
      </p:sp>
      <p:pic>
        <p:nvPicPr>
          <p:cNvPr id="9" name="team-photo-icon-2" descr="preencoded.png">    </p:cNvPr>
          <p:cNvPicPr>
            <a:picLocks noChangeAspect="1"/>
          </p:cNvPicPr>
          <p:nvPr/>
        </p:nvPicPr>
        <p:blipFill>
          <a:blip r:embed="rId2"/>
          <a:stretch>
            <a:fillRect/>
          </a:stretch>
        </p:blipFill>
        <p:spPr>
          <a:xfrm>
            <a:off x="3570732" y="2286000"/>
            <a:ext cx="548640" cy="548640"/>
          </a:xfrm>
          <a:prstGeom prst="rect">
            <a:avLst/>
          </a:prstGeom>
        </p:spPr>
      </p:pic>
      <p:sp>
        <p:nvSpPr>
          <p:cNvPr id="10" name="team-text-2"/>
          <p:cNvSpPr txBox="1"/>
          <p:nvPr/>
        </p:nvSpPr>
        <p:spPr>
          <a:xfrm>
            <a:off x="2944368" y="3383280"/>
            <a:ext cx="1801368" cy="1920240"/>
          </a:xfrm>
          <a:prstGeom prst="rect">
            <a:avLst/>
          </a:prstGeom>
          <a:noFill/>
          <a:ln/>
        </p:spPr>
        <p:txBody>
          <a:bodyPr wrap="square" lIns="0" tIns="0" rIns="0" bIns="0" rtlCol="0" anchor="t"/>
          <a:lstStyle/>
          <a:p>
            <a:pPr algn="ctr" indent="0" marL="0">
              <a:buNone/>
            </a:pPr>
            <a:r>
              <a:rPr lang="en-US" sz="1800" b="1" dirty="0">
                <a:solidFill>
                  <a:schemeClr val="tx1"/>
                </a:solidFill>
              </a:rPr>
              <a:t>Ad Soyad</a:t>
            </a:r>
            <a:endParaRPr lang="en-US" sz="1800" dirty="0"/>
          </a:p>
          <a:p>
            <a:pPr algn="ctr" indent="0" marL="0">
              <a:buNone/>
            </a:pPr>
            <a:r>
              <a:rPr lang="en-US" sz="1400" dirty="0">
                <a:solidFill>
                  <a:schemeClr val="accent5"/>
                </a:solidFill>
              </a:rPr>
              <a:t>Birim</a:t>
            </a:r>
            <a:endParaRPr lang="en-US" sz="1800" dirty="0"/>
          </a:p>
          <a:p>
            <a:pPr algn="ctr" indent="0" marL="0">
              <a:buNone/>
            </a:pPr>
            <a:r>
              <a:rPr lang="en-US" sz="800" dirty="0">
                <a:solidFill>
                  <a:srgbClr val="000000"/>
                </a:solidFill>
              </a:rPr>
              <a:t> </a:t>
            </a:r>
            <a:endParaRPr lang="en-US" sz="1800" dirty="0"/>
          </a:p>
          <a:p>
            <a:pPr algn="ctr" indent="0" marL="0">
              <a:buNone/>
            </a:pPr>
            <a:r>
              <a:rPr lang="en-US" sz="1400" dirty="0">
                <a:solidFill>
                  <a:schemeClr val="tx2"/>
                </a:solidFill>
              </a:rPr>
              <a:t>Projedeki rolü</a:t>
            </a:r>
            <a:endParaRPr lang="en-US" sz="1800" dirty="0"/>
          </a:p>
        </p:txBody>
      </p:sp>
      <p:sp>
        <p:nvSpPr>
          <p:cNvPr id="11" name="team-card-3"/>
          <p:cNvSpPr/>
          <p:nvPr/>
        </p:nvSpPr>
        <p:spPr>
          <a:xfrm>
            <a:off x="5065776" y="1600200"/>
            <a:ext cx="2075688" cy="3977640"/>
          </a:xfrm>
          <a:prstGeom prst="roundRect">
            <a:avLst>
              <a:gd name="adj" fmla="val 5286"/>
            </a:avLst>
          </a:prstGeom>
          <a:solidFill>
            <a:schemeClr val="bg2"/>
          </a:solidFill>
          <a:ln w="12700">
            <a:solidFill>
              <a:schemeClr val="bg2"/>
            </a:solidFill>
            <a:prstDash val="solid"/>
          </a:ln>
        </p:spPr>
      </p:sp>
      <p:sp>
        <p:nvSpPr>
          <p:cNvPr id="12" name="team-photo-3"/>
          <p:cNvSpPr/>
          <p:nvPr/>
        </p:nvSpPr>
        <p:spPr>
          <a:xfrm>
            <a:off x="5509260" y="1965960"/>
            <a:ext cx="1188720" cy="1188720"/>
          </a:xfrm>
          <a:prstGeom prst="ellipse">
            <a:avLst/>
          </a:prstGeom>
          <a:solidFill>
            <a:schemeClr val="bg1"/>
          </a:solidFill>
          <a:ln w="38100">
            <a:solidFill>
              <a:schemeClr val="accent1"/>
            </a:solidFill>
            <a:prstDash val="solid"/>
          </a:ln>
        </p:spPr>
      </p:sp>
      <p:pic>
        <p:nvPicPr>
          <p:cNvPr id="13" name="team-photo-icon-3" descr="preencoded.png">    </p:cNvPr>
          <p:cNvPicPr>
            <a:picLocks noChangeAspect="1"/>
          </p:cNvPicPr>
          <p:nvPr/>
        </p:nvPicPr>
        <p:blipFill>
          <a:blip r:embed="rId3"/>
          <a:stretch>
            <a:fillRect/>
          </a:stretch>
        </p:blipFill>
        <p:spPr>
          <a:xfrm>
            <a:off x="5829300" y="2286000"/>
            <a:ext cx="548640" cy="548640"/>
          </a:xfrm>
          <a:prstGeom prst="rect">
            <a:avLst/>
          </a:prstGeom>
        </p:spPr>
      </p:pic>
      <p:sp>
        <p:nvSpPr>
          <p:cNvPr id="14" name="team-text-3"/>
          <p:cNvSpPr txBox="1"/>
          <p:nvPr/>
        </p:nvSpPr>
        <p:spPr>
          <a:xfrm>
            <a:off x="5202936" y="3383280"/>
            <a:ext cx="1801368" cy="1920240"/>
          </a:xfrm>
          <a:prstGeom prst="rect">
            <a:avLst/>
          </a:prstGeom>
          <a:noFill/>
          <a:ln/>
        </p:spPr>
        <p:txBody>
          <a:bodyPr wrap="square" lIns="0" tIns="0" rIns="0" bIns="0" rtlCol="0" anchor="t"/>
          <a:lstStyle/>
          <a:p>
            <a:pPr algn="ctr" indent="0" marL="0">
              <a:buNone/>
            </a:pPr>
            <a:r>
              <a:rPr lang="en-US" sz="1800" b="1" dirty="0">
                <a:solidFill>
                  <a:schemeClr val="tx1"/>
                </a:solidFill>
              </a:rPr>
              <a:t>Ad Soyad</a:t>
            </a:r>
            <a:endParaRPr lang="en-US" sz="1800" dirty="0"/>
          </a:p>
          <a:p>
            <a:pPr algn="ctr" indent="0" marL="0">
              <a:buNone/>
            </a:pPr>
            <a:r>
              <a:rPr lang="en-US" sz="1400" dirty="0">
                <a:solidFill>
                  <a:schemeClr val="accent5"/>
                </a:solidFill>
              </a:rPr>
              <a:t>Birim</a:t>
            </a:r>
            <a:endParaRPr lang="en-US" sz="1800" dirty="0"/>
          </a:p>
          <a:p>
            <a:pPr algn="ctr" indent="0" marL="0">
              <a:buNone/>
            </a:pPr>
            <a:r>
              <a:rPr lang="en-US" sz="800" dirty="0">
                <a:solidFill>
                  <a:srgbClr val="000000"/>
                </a:solidFill>
              </a:rPr>
              <a:t> </a:t>
            </a:r>
            <a:endParaRPr lang="en-US" sz="1800" dirty="0"/>
          </a:p>
          <a:p>
            <a:pPr algn="ctr" indent="0" marL="0">
              <a:buNone/>
            </a:pPr>
            <a:r>
              <a:rPr lang="en-US" sz="1400" dirty="0">
                <a:solidFill>
                  <a:schemeClr val="tx2"/>
                </a:solidFill>
              </a:rPr>
              <a:t>Projedeki rolü</a:t>
            </a:r>
            <a:endParaRPr lang="en-US" sz="1800" dirty="0"/>
          </a:p>
        </p:txBody>
      </p:sp>
      <p:sp>
        <p:nvSpPr>
          <p:cNvPr id="15" name="team-card-4"/>
          <p:cNvSpPr/>
          <p:nvPr/>
        </p:nvSpPr>
        <p:spPr>
          <a:xfrm>
            <a:off x="7324344" y="1600200"/>
            <a:ext cx="2075688" cy="3977640"/>
          </a:xfrm>
          <a:prstGeom prst="roundRect">
            <a:avLst>
              <a:gd name="adj" fmla="val 5286"/>
            </a:avLst>
          </a:prstGeom>
          <a:solidFill>
            <a:schemeClr val="bg2"/>
          </a:solidFill>
          <a:ln w="12700">
            <a:solidFill>
              <a:schemeClr val="bg2"/>
            </a:solidFill>
            <a:prstDash val="solid"/>
          </a:ln>
        </p:spPr>
      </p:sp>
      <p:sp>
        <p:nvSpPr>
          <p:cNvPr id="16" name="team-photo-4"/>
          <p:cNvSpPr/>
          <p:nvPr/>
        </p:nvSpPr>
        <p:spPr>
          <a:xfrm>
            <a:off x="7767828" y="1965960"/>
            <a:ext cx="1188720" cy="1188720"/>
          </a:xfrm>
          <a:prstGeom prst="ellipse">
            <a:avLst/>
          </a:prstGeom>
          <a:solidFill>
            <a:schemeClr val="bg1"/>
          </a:solidFill>
          <a:ln w="38100">
            <a:solidFill>
              <a:schemeClr val="accent1"/>
            </a:solidFill>
            <a:prstDash val="solid"/>
          </a:ln>
        </p:spPr>
      </p:sp>
      <p:pic>
        <p:nvPicPr>
          <p:cNvPr id="17" name="team-photo-icon-4" descr="preencoded.png">    </p:cNvPr>
          <p:cNvPicPr>
            <a:picLocks noChangeAspect="1"/>
          </p:cNvPicPr>
          <p:nvPr/>
        </p:nvPicPr>
        <p:blipFill>
          <a:blip r:embed="rId4"/>
          <a:stretch>
            <a:fillRect/>
          </a:stretch>
        </p:blipFill>
        <p:spPr>
          <a:xfrm>
            <a:off x="8087868" y="2286000"/>
            <a:ext cx="548640" cy="548640"/>
          </a:xfrm>
          <a:prstGeom prst="rect">
            <a:avLst/>
          </a:prstGeom>
        </p:spPr>
      </p:pic>
      <p:sp>
        <p:nvSpPr>
          <p:cNvPr id="18" name="team-text-4"/>
          <p:cNvSpPr txBox="1"/>
          <p:nvPr/>
        </p:nvSpPr>
        <p:spPr>
          <a:xfrm>
            <a:off x="7461504" y="3383280"/>
            <a:ext cx="1801368" cy="1920240"/>
          </a:xfrm>
          <a:prstGeom prst="rect">
            <a:avLst/>
          </a:prstGeom>
          <a:noFill/>
          <a:ln/>
        </p:spPr>
        <p:txBody>
          <a:bodyPr wrap="square" lIns="0" tIns="0" rIns="0" bIns="0" rtlCol="0" anchor="t"/>
          <a:lstStyle/>
          <a:p>
            <a:pPr algn="ctr" indent="0" marL="0">
              <a:buNone/>
            </a:pPr>
            <a:r>
              <a:rPr lang="en-US" sz="1800" b="1" dirty="0">
                <a:solidFill>
                  <a:schemeClr val="tx1"/>
                </a:solidFill>
              </a:rPr>
              <a:t>Ad Soyad</a:t>
            </a:r>
            <a:endParaRPr lang="en-US" sz="1800" dirty="0"/>
          </a:p>
          <a:p>
            <a:pPr algn="ctr" indent="0" marL="0">
              <a:buNone/>
            </a:pPr>
            <a:r>
              <a:rPr lang="en-US" sz="1400" dirty="0">
                <a:solidFill>
                  <a:schemeClr val="accent5"/>
                </a:solidFill>
              </a:rPr>
              <a:t>Birim</a:t>
            </a:r>
            <a:endParaRPr lang="en-US" sz="1800" dirty="0"/>
          </a:p>
          <a:p>
            <a:pPr algn="ctr" indent="0" marL="0">
              <a:buNone/>
            </a:pPr>
            <a:r>
              <a:rPr lang="en-US" sz="800" dirty="0">
                <a:solidFill>
                  <a:srgbClr val="000000"/>
                </a:solidFill>
              </a:rPr>
              <a:t> </a:t>
            </a:r>
            <a:endParaRPr lang="en-US" sz="1800" dirty="0"/>
          </a:p>
          <a:p>
            <a:pPr algn="ctr" indent="0" marL="0">
              <a:buNone/>
            </a:pPr>
            <a:r>
              <a:rPr lang="en-US" sz="1400" dirty="0">
                <a:solidFill>
                  <a:schemeClr val="tx2"/>
                </a:solidFill>
              </a:rPr>
              <a:t>Projedeki rolü</a:t>
            </a:r>
            <a:endParaRPr lang="en-US" sz="1800" dirty="0"/>
          </a:p>
        </p:txBody>
      </p:sp>
      <p:sp>
        <p:nvSpPr>
          <p:cNvPr id="19" name="team-card-5"/>
          <p:cNvSpPr/>
          <p:nvPr/>
        </p:nvSpPr>
        <p:spPr>
          <a:xfrm>
            <a:off x="9582912" y="1600200"/>
            <a:ext cx="2075688" cy="3977640"/>
          </a:xfrm>
          <a:prstGeom prst="roundRect">
            <a:avLst>
              <a:gd name="adj" fmla="val 5286"/>
            </a:avLst>
          </a:prstGeom>
          <a:solidFill>
            <a:schemeClr val="bg2"/>
          </a:solidFill>
          <a:ln w="12700">
            <a:solidFill>
              <a:schemeClr val="bg2"/>
            </a:solidFill>
            <a:prstDash val="solid"/>
          </a:ln>
        </p:spPr>
      </p:sp>
      <p:sp>
        <p:nvSpPr>
          <p:cNvPr id="20" name="team-photo-5"/>
          <p:cNvSpPr/>
          <p:nvPr/>
        </p:nvSpPr>
        <p:spPr>
          <a:xfrm>
            <a:off x="10026396" y="1965960"/>
            <a:ext cx="1188720" cy="1188720"/>
          </a:xfrm>
          <a:prstGeom prst="ellipse">
            <a:avLst/>
          </a:prstGeom>
          <a:solidFill>
            <a:schemeClr val="bg1"/>
          </a:solidFill>
          <a:ln w="38100">
            <a:solidFill>
              <a:schemeClr val="accent1"/>
            </a:solidFill>
            <a:prstDash val="solid"/>
          </a:ln>
        </p:spPr>
      </p:sp>
      <p:pic>
        <p:nvPicPr>
          <p:cNvPr id="21" name="team-photo-icon-5" descr="preencoded.png">    </p:cNvPr>
          <p:cNvPicPr>
            <a:picLocks noChangeAspect="1"/>
          </p:cNvPicPr>
          <p:nvPr/>
        </p:nvPicPr>
        <p:blipFill>
          <a:blip r:embed="rId5"/>
          <a:stretch>
            <a:fillRect/>
          </a:stretch>
        </p:blipFill>
        <p:spPr>
          <a:xfrm>
            <a:off x="10346436" y="2286000"/>
            <a:ext cx="548640" cy="548640"/>
          </a:xfrm>
          <a:prstGeom prst="rect">
            <a:avLst/>
          </a:prstGeom>
        </p:spPr>
      </p:pic>
      <p:sp>
        <p:nvSpPr>
          <p:cNvPr id="22" name="team-text-5"/>
          <p:cNvSpPr txBox="1"/>
          <p:nvPr/>
        </p:nvSpPr>
        <p:spPr>
          <a:xfrm>
            <a:off x="9720072" y="3383280"/>
            <a:ext cx="1801368" cy="1920240"/>
          </a:xfrm>
          <a:prstGeom prst="rect">
            <a:avLst/>
          </a:prstGeom>
          <a:noFill/>
          <a:ln/>
        </p:spPr>
        <p:txBody>
          <a:bodyPr wrap="square" lIns="0" tIns="0" rIns="0" bIns="0" rtlCol="0" anchor="t"/>
          <a:lstStyle/>
          <a:p>
            <a:pPr algn="ctr" indent="0" marL="0">
              <a:buNone/>
            </a:pPr>
            <a:r>
              <a:rPr lang="en-US" sz="1800" b="1" dirty="0">
                <a:solidFill>
                  <a:schemeClr val="tx1"/>
                </a:solidFill>
              </a:rPr>
              <a:t>Ad Soyad</a:t>
            </a:r>
            <a:endParaRPr lang="en-US" sz="1800" dirty="0"/>
          </a:p>
          <a:p>
            <a:pPr algn="ctr" indent="0" marL="0">
              <a:buNone/>
            </a:pPr>
            <a:r>
              <a:rPr lang="en-US" sz="1400" dirty="0">
                <a:solidFill>
                  <a:schemeClr val="accent5"/>
                </a:solidFill>
              </a:rPr>
              <a:t>Birim</a:t>
            </a:r>
            <a:endParaRPr lang="en-US" sz="1800" dirty="0"/>
          </a:p>
          <a:p>
            <a:pPr algn="ctr" indent="0" marL="0">
              <a:buNone/>
            </a:pPr>
            <a:r>
              <a:rPr lang="en-US" sz="800" dirty="0">
                <a:solidFill>
                  <a:srgbClr val="000000"/>
                </a:solidFill>
              </a:rPr>
              <a:t> </a:t>
            </a:r>
            <a:endParaRPr lang="en-US" sz="1800" dirty="0"/>
          </a:p>
          <a:p>
            <a:pPr algn="ctr" indent="0" marL="0">
              <a:buNone/>
            </a:pPr>
            <a:r>
              <a:rPr lang="en-US" sz="1400" dirty="0">
                <a:solidFill>
                  <a:schemeClr val="tx2"/>
                </a:solidFill>
              </a:rPr>
              <a:t>Projedeki rolü</a:t>
            </a:r>
            <a:endParaRPr lang="en-US" sz="1800" dirty="0"/>
          </a:p>
        </p:txBody>
      </p:sp>
      <p:sp>
        <p:nvSpPr>
          <p:cNvPr id="23" name="Text 16"/>
          <p:cNvSpPr txBox="1"/>
          <p:nvPr/>
        </p:nvSpPr>
        <p:spPr>
          <a:xfrm>
            <a:off x="548640" y="5760720"/>
            <a:ext cx="10972800" cy="365760"/>
          </a:xfrm>
          <a:prstGeom prst="rect">
            <a:avLst/>
          </a:prstGeom>
          <a:noFill/>
          <a:ln/>
        </p:spPr>
        <p:txBody>
          <a:bodyPr wrap="square" lIns="0" tIns="0" rIns="0" bIns="0" rtlCol="0" anchor="ctr"/>
          <a:lstStyle/>
          <a:p>
            <a:pPr indent="0" marL="0">
              <a:buNone/>
            </a:pPr>
            <a:r>
              <a:rPr lang="en-US" sz="1400" dirty="0">
                <a:solidFill>
                  <a:schemeClr val="accent5"/>
                </a:solidFill>
              </a:rPr>
              <a:t>Sorumluluklar 19 maddelik listeden herkesin kendi seçimiyle dağıtıldı.</a:t>
            </a:r>
            <a:endParaRPr lang="en-US" sz="14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indent="0" marL="0">
              <a:buNone/>
            </a:pPr>
            <a:r>
              <a:rPr lang="en-US" sz="3600" b="1" dirty="0">
                <a:solidFill>
                  <a:schemeClr val="tx1"/>
                </a:solidFill>
              </a:rPr>
              <a:t>Hata mı, kural mı? Bilinmeyince çağrı açılıyor</a:t>
            </a:r>
            <a:endParaRPr lang="en-US" sz="3600" dirty="0"/>
          </a:p>
        </p:txBody>
      </p:sp>
      <p:sp>
        <p:nvSpPr>
          <p:cNvPr id="3" name="quote-card"/>
          <p:cNvSpPr/>
          <p:nvPr/>
        </p:nvSpPr>
        <p:spPr>
          <a:xfrm>
            <a:off x="548640" y="1463040"/>
            <a:ext cx="3200400" cy="4526280"/>
          </a:xfrm>
          <a:prstGeom prst="roundRect">
            <a:avLst>
              <a:gd name="adj" fmla="val 3429"/>
            </a:avLst>
          </a:prstGeom>
          <a:solidFill>
            <a:schemeClr val="tx2"/>
          </a:solidFill>
          <a:ln w="12700">
            <a:solidFill>
              <a:schemeClr val="tx2"/>
            </a:solidFill>
            <a:prstDash val="solid"/>
          </a:ln>
        </p:spPr>
      </p:sp>
      <p:pic>
        <p:nvPicPr>
          <p:cNvPr id="4" name="quote-icon" descr="preencoded.png">    </p:cNvPr>
          <p:cNvPicPr>
            <a:picLocks noChangeAspect="1"/>
          </p:cNvPicPr>
          <p:nvPr/>
        </p:nvPicPr>
        <p:blipFill>
          <a:blip r:embed="rId1"/>
          <a:stretch>
            <a:fillRect/>
          </a:stretch>
        </p:blipFill>
        <p:spPr>
          <a:xfrm>
            <a:off x="868680" y="1783080"/>
            <a:ext cx="502920" cy="502920"/>
          </a:xfrm>
          <a:prstGeom prst="rect">
            <a:avLst/>
          </a:prstGeom>
        </p:spPr>
      </p:pic>
      <p:sp>
        <p:nvSpPr>
          <p:cNvPr id="5" name="Text 2"/>
          <p:cNvSpPr txBox="1"/>
          <p:nvPr/>
        </p:nvSpPr>
        <p:spPr>
          <a:xfrm>
            <a:off x="868680" y="2423160"/>
            <a:ext cx="2651760" cy="2011680"/>
          </a:xfrm>
          <a:prstGeom prst="rect">
            <a:avLst/>
          </a:prstGeom>
          <a:noFill/>
          <a:ln/>
        </p:spPr>
        <p:txBody>
          <a:bodyPr wrap="square" lIns="0" tIns="0" rIns="0" bIns="0" rtlCol="0" anchor="t"/>
          <a:lstStyle/>
          <a:p>
            <a:pPr indent="0" marL="0">
              <a:buNone/>
            </a:pPr>
            <a:r>
              <a:rPr lang="en-US" sz="2400" b="1" i="1" dirty="0">
                <a:solidFill>
                  <a:schemeClr val="bg1"/>
                </a:solidFill>
              </a:rPr>
              <a:t>“Ekran ‘kullandırılamaz’ diyor. Sistem mi bozuk?”</a:t>
            </a:r>
            <a:endParaRPr lang="en-US" sz="2400" dirty="0"/>
          </a:p>
        </p:txBody>
      </p:sp>
      <p:sp>
        <p:nvSpPr>
          <p:cNvPr id="6" name="Text 3"/>
          <p:cNvSpPr txBox="1"/>
          <p:nvPr/>
        </p:nvSpPr>
        <p:spPr>
          <a:xfrm>
            <a:off x="868680" y="5120640"/>
            <a:ext cx="2651760" cy="640080"/>
          </a:xfrm>
          <a:prstGeom prst="rect">
            <a:avLst/>
          </a:prstGeom>
          <a:noFill/>
          <a:ln/>
        </p:spPr>
        <p:txBody>
          <a:bodyPr wrap="square" lIns="0" tIns="0" rIns="0" bIns="0" rtlCol="0" anchor="b"/>
          <a:lstStyle/>
          <a:p>
            <a:pPr indent="0" marL="0">
              <a:buNone/>
            </a:pPr>
            <a:r>
              <a:rPr lang="en-US" sz="1400" dirty="0">
                <a:solidFill>
                  <a:schemeClr val="bg2"/>
                </a:solidFill>
              </a:rPr>
              <a:t>Elif, şube müşteri temsilcisi · KRDTKULL</a:t>
            </a:r>
            <a:endParaRPr lang="en-US" sz="1400" dirty="0"/>
          </a:p>
        </p:txBody>
      </p:sp>
      <p:sp>
        <p:nvSpPr>
          <p:cNvPr id="7" name="flow-step-1"/>
          <p:cNvSpPr/>
          <p:nvPr/>
        </p:nvSpPr>
        <p:spPr>
          <a:xfrm>
            <a:off x="4069080" y="1463040"/>
            <a:ext cx="1371600" cy="1737360"/>
          </a:xfrm>
          <a:prstGeom prst="roundRect">
            <a:avLst>
              <a:gd name="adj" fmla="val 8000"/>
            </a:avLst>
          </a:prstGeom>
          <a:solidFill>
            <a:schemeClr val="bg2"/>
          </a:solidFill>
          <a:ln w="12700">
            <a:solidFill>
              <a:schemeClr val="bg2"/>
            </a:solidFill>
            <a:prstDash val="solid"/>
          </a:ln>
        </p:spPr>
      </p:sp>
      <p:sp>
        <p:nvSpPr>
          <p:cNvPr id="8" name="flow-num-1"/>
          <p:cNvSpPr/>
          <p:nvPr/>
        </p:nvSpPr>
        <p:spPr>
          <a:xfrm>
            <a:off x="4206240" y="1600200"/>
            <a:ext cx="411480" cy="411480"/>
          </a:xfrm>
          <a:prstGeom prst="ellipse">
            <a:avLst/>
          </a:prstGeom>
          <a:solidFill>
            <a:schemeClr val="accent3"/>
          </a:solidFill>
          <a:ln w="12700">
            <a:solidFill>
              <a:schemeClr val="accent3"/>
            </a:solidFill>
            <a:prstDash val="solid"/>
          </a:ln>
        </p:spPr>
      </p:sp>
      <p:sp>
        <p:nvSpPr>
          <p:cNvPr id="9" name="Text 6"/>
          <p:cNvSpPr txBox="1"/>
          <p:nvPr/>
        </p:nvSpPr>
        <p:spPr>
          <a:xfrm>
            <a:off x="4206240" y="16002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0" name="Text 7"/>
          <p:cNvSpPr txBox="1"/>
          <p:nvPr/>
        </p:nvSpPr>
        <p:spPr>
          <a:xfrm>
            <a:off x="4206240" y="2103120"/>
            <a:ext cx="1097280" cy="1005840"/>
          </a:xfrm>
          <a:prstGeom prst="rect">
            <a:avLst/>
          </a:prstGeom>
          <a:noFill/>
          <a:ln/>
        </p:spPr>
        <p:txBody>
          <a:bodyPr wrap="square" lIns="0" tIns="0" rIns="0" bIns="0" rtlCol="0" anchor="t"/>
          <a:lstStyle/>
          <a:p>
            <a:pPr indent="0" marL="0">
              <a:buNone/>
            </a:pPr>
            <a:r>
              <a:rPr lang="en-US" sz="1300" dirty="0">
                <a:solidFill>
                  <a:schemeClr val="tx1"/>
                </a:solidFill>
              </a:rPr>
              <a:t>Temsilci uyarıyı görür</a:t>
            </a:r>
            <a:endParaRPr lang="en-US" sz="1300" dirty="0"/>
          </a:p>
        </p:txBody>
      </p:sp>
      <p:sp>
        <p:nvSpPr>
          <p:cNvPr id="11" name="flow-step-2"/>
          <p:cNvSpPr/>
          <p:nvPr/>
        </p:nvSpPr>
        <p:spPr>
          <a:xfrm>
            <a:off x="5586984" y="1463040"/>
            <a:ext cx="1371600" cy="1737360"/>
          </a:xfrm>
          <a:prstGeom prst="roundRect">
            <a:avLst>
              <a:gd name="adj" fmla="val 8000"/>
            </a:avLst>
          </a:prstGeom>
          <a:solidFill>
            <a:schemeClr val="bg2"/>
          </a:solidFill>
          <a:ln w="12700">
            <a:solidFill>
              <a:schemeClr val="bg2"/>
            </a:solidFill>
            <a:prstDash val="solid"/>
          </a:ln>
        </p:spPr>
      </p:sp>
      <p:sp>
        <p:nvSpPr>
          <p:cNvPr id="12" name="flow-num-2"/>
          <p:cNvSpPr/>
          <p:nvPr/>
        </p:nvSpPr>
        <p:spPr>
          <a:xfrm>
            <a:off x="5724144" y="1600200"/>
            <a:ext cx="411480" cy="411480"/>
          </a:xfrm>
          <a:prstGeom prst="ellipse">
            <a:avLst/>
          </a:prstGeom>
          <a:solidFill>
            <a:schemeClr val="accent3"/>
          </a:solidFill>
          <a:ln w="12700">
            <a:solidFill>
              <a:schemeClr val="accent3"/>
            </a:solidFill>
            <a:prstDash val="solid"/>
          </a:ln>
        </p:spPr>
      </p:sp>
      <p:sp>
        <p:nvSpPr>
          <p:cNvPr id="13" name="Text 10"/>
          <p:cNvSpPr txBox="1"/>
          <p:nvPr/>
        </p:nvSpPr>
        <p:spPr>
          <a:xfrm>
            <a:off x="5724144" y="16002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4" name="Text 11"/>
          <p:cNvSpPr txBox="1"/>
          <p:nvPr/>
        </p:nvSpPr>
        <p:spPr>
          <a:xfrm>
            <a:off x="5724144" y="2103120"/>
            <a:ext cx="1097280" cy="1005840"/>
          </a:xfrm>
          <a:prstGeom prst="rect">
            <a:avLst/>
          </a:prstGeom>
          <a:noFill/>
          <a:ln/>
        </p:spPr>
        <p:txBody>
          <a:bodyPr wrap="square" lIns="0" tIns="0" rIns="0" bIns="0" rtlCol="0" anchor="t"/>
          <a:lstStyle/>
          <a:p>
            <a:pPr indent="0" marL="0">
              <a:buNone/>
            </a:pPr>
            <a:r>
              <a:rPr lang="en-US" sz="1300" dirty="0">
                <a:solidFill>
                  <a:schemeClr val="tx1"/>
                </a:solidFill>
              </a:rPr>
              <a:t>Çağrı açar</a:t>
            </a:r>
            <a:endParaRPr lang="en-US" sz="1300" dirty="0"/>
          </a:p>
        </p:txBody>
      </p:sp>
      <p:sp>
        <p:nvSpPr>
          <p:cNvPr id="15" name="flow-step-3"/>
          <p:cNvSpPr/>
          <p:nvPr/>
        </p:nvSpPr>
        <p:spPr>
          <a:xfrm>
            <a:off x="7104888" y="1463040"/>
            <a:ext cx="1371600" cy="1737360"/>
          </a:xfrm>
          <a:prstGeom prst="roundRect">
            <a:avLst>
              <a:gd name="adj" fmla="val 8000"/>
            </a:avLst>
          </a:prstGeom>
          <a:solidFill>
            <a:schemeClr val="bg2"/>
          </a:solidFill>
          <a:ln w="12700">
            <a:solidFill>
              <a:schemeClr val="bg2"/>
            </a:solidFill>
            <a:prstDash val="solid"/>
          </a:ln>
        </p:spPr>
      </p:sp>
      <p:sp>
        <p:nvSpPr>
          <p:cNvPr id="16" name="flow-num-3"/>
          <p:cNvSpPr/>
          <p:nvPr/>
        </p:nvSpPr>
        <p:spPr>
          <a:xfrm>
            <a:off x="7242048" y="1600200"/>
            <a:ext cx="411480" cy="411480"/>
          </a:xfrm>
          <a:prstGeom prst="ellipse">
            <a:avLst/>
          </a:prstGeom>
          <a:solidFill>
            <a:schemeClr val="accent3"/>
          </a:solidFill>
          <a:ln w="12700">
            <a:solidFill>
              <a:schemeClr val="accent3"/>
            </a:solidFill>
            <a:prstDash val="solid"/>
          </a:ln>
        </p:spPr>
      </p:sp>
      <p:sp>
        <p:nvSpPr>
          <p:cNvPr id="17" name="Text 14"/>
          <p:cNvSpPr txBox="1"/>
          <p:nvPr/>
        </p:nvSpPr>
        <p:spPr>
          <a:xfrm>
            <a:off x="7242048" y="16002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Text 15"/>
          <p:cNvSpPr txBox="1"/>
          <p:nvPr/>
        </p:nvSpPr>
        <p:spPr>
          <a:xfrm>
            <a:off x="7242048" y="2103120"/>
            <a:ext cx="1097280" cy="1005840"/>
          </a:xfrm>
          <a:prstGeom prst="rect">
            <a:avLst/>
          </a:prstGeom>
          <a:noFill/>
          <a:ln/>
        </p:spPr>
        <p:txBody>
          <a:bodyPr wrap="square" lIns="0" tIns="0" rIns="0" bIns="0" rtlCol="0" anchor="t"/>
          <a:lstStyle/>
          <a:p>
            <a:pPr indent="0" marL="0">
              <a:buNone/>
            </a:pPr>
            <a:r>
              <a:rPr lang="en-US" sz="1300" dirty="0">
                <a:solidFill>
                  <a:schemeClr val="tx1"/>
                </a:solidFill>
              </a:rPr>
              <a:t>L1 Kibana'da log arar</a:t>
            </a:r>
            <a:endParaRPr lang="en-US" sz="1300" dirty="0"/>
          </a:p>
        </p:txBody>
      </p:sp>
      <p:sp>
        <p:nvSpPr>
          <p:cNvPr id="19" name="flow-step-4"/>
          <p:cNvSpPr/>
          <p:nvPr/>
        </p:nvSpPr>
        <p:spPr>
          <a:xfrm>
            <a:off x="8622792" y="1463040"/>
            <a:ext cx="1371600" cy="1737360"/>
          </a:xfrm>
          <a:prstGeom prst="roundRect">
            <a:avLst>
              <a:gd name="adj" fmla="val 8000"/>
            </a:avLst>
          </a:prstGeom>
          <a:solidFill>
            <a:schemeClr val="bg2"/>
          </a:solidFill>
          <a:ln w="12700">
            <a:solidFill>
              <a:schemeClr val="bg2"/>
            </a:solidFill>
            <a:prstDash val="solid"/>
          </a:ln>
        </p:spPr>
      </p:sp>
      <p:sp>
        <p:nvSpPr>
          <p:cNvPr id="20" name="flow-num-4"/>
          <p:cNvSpPr/>
          <p:nvPr/>
        </p:nvSpPr>
        <p:spPr>
          <a:xfrm>
            <a:off x="8759952" y="1600200"/>
            <a:ext cx="411480" cy="411480"/>
          </a:xfrm>
          <a:prstGeom prst="ellipse">
            <a:avLst/>
          </a:prstGeom>
          <a:solidFill>
            <a:schemeClr val="accent3"/>
          </a:solidFill>
          <a:ln w="12700">
            <a:solidFill>
              <a:schemeClr val="accent3"/>
            </a:solidFill>
            <a:prstDash val="solid"/>
          </a:ln>
        </p:spPr>
      </p:sp>
      <p:sp>
        <p:nvSpPr>
          <p:cNvPr id="21" name="Text 18"/>
          <p:cNvSpPr txBox="1"/>
          <p:nvPr/>
        </p:nvSpPr>
        <p:spPr>
          <a:xfrm>
            <a:off x="8759952" y="16002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2" name="Text 19"/>
          <p:cNvSpPr txBox="1"/>
          <p:nvPr/>
        </p:nvSpPr>
        <p:spPr>
          <a:xfrm>
            <a:off x="8759952" y="2103120"/>
            <a:ext cx="1097280" cy="1005840"/>
          </a:xfrm>
          <a:prstGeom prst="rect">
            <a:avLst/>
          </a:prstGeom>
          <a:noFill/>
          <a:ln/>
        </p:spPr>
        <p:txBody>
          <a:bodyPr wrap="square" lIns="0" tIns="0" rIns="0" bIns="0" rtlCol="0" anchor="t"/>
          <a:lstStyle/>
          <a:p>
            <a:pPr indent="0" marL="0">
              <a:buNone/>
            </a:pPr>
            <a:r>
              <a:rPr lang="en-US" sz="1300" dirty="0">
                <a:solidFill>
                  <a:schemeClr val="tx1"/>
                </a:solidFill>
              </a:rPr>
              <a:t>L2 kurumu ve kodu inceler</a:t>
            </a:r>
            <a:endParaRPr lang="en-US" sz="1300" dirty="0"/>
          </a:p>
        </p:txBody>
      </p:sp>
      <p:sp>
        <p:nvSpPr>
          <p:cNvPr id="23" name="flow-step-5"/>
          <p:cNvSpPr/>
          <p:nvPr/>
        </p:nvSpPr>
        <p:spPr>
          <a:xfrm>
            <a:off x="10140696" y="1463040"/>
            <a:ext cx="1371600" cy="1737360"/>
          </a:xfrm>
          <a:prstGeom prst="roundRect">
            <a:avLst>
              <a:gd name="adj" fmla="val 8000"/>
            </a:avLst>
          </a:prstGeom>
          <a:solidFill>
            <a:schemeClr val="bg2"/>
          </a:solidFill>
          <a:ln w="12700">
            <a:solidFill>
              <a:schemeClr val="bg2"/>
            </a:solidFill>
            <a:prstDash val="solid"/>
          </a:ln>
        </p:spPr>
      </p:sp>
      <p:sp>
        <p:nvSpPr>
          <p:cNvPr id="24" name="flow-num-5"/>
          <p:cNvSpPr/>
          <p:nvPr/>
        </p:nvSpPr>
        <p:spPr>
          <a:xfrm>
            <a:off x="10277856" y="1600200"/>
            <a:ext cx="411480" cy="411480"/>
          </a:xfrm>
          <a:prstGeom prst="ellipse">
            <a:avLst/>
          </a:prstGeom>
          <a:solidFill>
            <a:schemeClr val="accent3"/>
          </a:solidFill>
          <a:ln w="12700">
            <a:solidFill>
              <a:schemeClr val="accent3"/>
            </a:solidFill>
            <a:prstDash val="solid"/>
          </a:ln>
        </p:spPr>
      </p:sp>
      <p:sp>
        <p:nvSpPr>
          <p:cNvPr id="25" name="Text 22"/>
          <p:cNvSpPr txBox="1"/>
          <p:nvPr/>
        </p:nvSpPr>
        <p:spPr>
          <a:xfrm>
            <a:off x="10277856" y="16002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6" name="Text 23"/>
          <p:cNvSpPr txBox="1"/>
          <p:nvPr/>
        </p:nvSpPr>
        <p:spPr>
          <a:xfrm>
            <a:off x="10277856" y="2103120"/>
            <a:ext cx="1097280" cy="1005840"/>
          </a:xfrm>
          <a:prstGeom prst="rect">
            <a:avLst/>
          </a:prstGeom>
          <a:noFill/>
          <a:ln/>
        </p:spPr>
        <p:txBody>
          <a:bodyPr wrap="square" lIns="0" tIns="0" rIns="0" bIns="0" rtlCol="0" anchor="t"/>
          <a:lstStyle/>
          <a:p>
            <a:pPr indent="0" marL="0">
              <a:buNone/>
            </a:pPr>
            <a:r>
              <a:rPr lang="en-US" sz="1300" dirty="0">
                <a:solidFill>
                  <a:schemeClr val="tx1"/>
                </a:solidFill>
              </a:rPr>
              <a:t>Yeni talep bu sorunlardan habersiz planlanır</a:t>
            </a:r>
            <a:endParaRPr lang="en-US" sz="1300" dirty="0"/>
          </a:p>
        </p:txBody>
      </p:sp>
      <p:sp>
        <p:nvSpPr>
          <p:cNvPr id="27" name="Text 24"/>
          <p:cNvSpPr txBox="1"/>
          <p:nvPr/>
        </p:nvSpPr>
        <p:spPr>
          <a:xfrm>
            <a:off x="4069080" y="3273552"/>
            <a:ext cx="7498080" cy="548640"/>
          </a:xfrm>
          <a:prstGeom prst="rect">
            <a:avLst/>
          </a:prstGeom>
          <a:noFill/>
          <a:ln/>
        </p:spPr>
        <p:txBody>
          <a:bodyPr wrap="square" lIns="0" tIns="0" rIns="0" bIns="0" rtlCol="0" anchor="t"/>
          <a:lstStyle/>
          <a:p>
            <a:pPr indent="0" marL="0">
              <a:buNone/>
            </a:pPr>
            <a:r>
              <a:rPr lang="en-US" sz="1400" b="1" dirty="0">
                <a:solidFill>
                  <a:schemeClr val="accent3"/>
                </a:solidFill>
              </a:rPr>
              <a:t>Bedeli: </a:t>
            </a:r>
            <a:pPr indent="0" marL="0">
              <a:buNone/>
            </a:pPr>
            <a:r>
              <a:rPr lang="en-US" sz="1400" dirty="0">
                <a:solidFill>
                  <a:schemeClr val="accent3"/>
                </a:solidFill>
              </a:rPr>
              <a:t>işlem yapamayan müşteri · gereksiz çağrılar · aynı kurum sorunu için onlarca kayıt · veriden kopuk planlanan talepler</a:t>
            </a:r>
            <a:endParaRPr lang="en-US" sz="1400" dirty="0"/>
          </a:p>
        </p:txBody>
      </p:sp>
      <p:sp>
        <p:nvSpPr>
          <p:cNvPr id="28" name="pain-1-circle"/>
          <p:cNvSpPr/>
          <p:nvPr/>
        </p:nvSpPr>
        <p:spPr>
          <a:xfrm>
            <a:off x="4069080" y="3931920"/>
            <a:ext cx="548640" cy="548640"/>
          </a:xfrm>
          <a:prstGeom prst="ellipse">
            <a:avLst/>
          </a:prstGeom>
          <a:solidFill>
            <a:schemeClr val="tx2"/>
          </a:solidFill>
          <a:ln w="12700">
            <a:solidFill>
              <a:schemeClr val="tx2"/>
            </a:solidFill>
            <a:prstDash val="solid"/>
          </a:ln>
        </p:spPr>
      </p:sp>
      <p:pic>
        <p:nvPicPr>
          <p:cNvPr id="29" name="pain-1-icon" descr="preencoded.png">    </p:cNvPr>
          <p:cNvPicPr>
            <a:picLocks noChangeAspect="1"/>
          </p:cNvPicPr>
          <p:nvPr/>
        </p:nvPicPr>
        <p:blipFill>
          <a:blip r:embed="rId2"/>
          <a:stretch>
            <a:fillRect/>
          </a:stretch>
        </p:blipFill>
        <p:spPr>
          <a:xfrm>
            <a:off x="4211726" y="4074566"/>
            <a:ext cx="263347" cy="263347"/>
          </a:xfrm>
          <a:prstGeom prst="rect">
            <a:avLst/>
          </a:prstGeom>
        </p:spPr>
      </p:pic>
      <p:sp>
        <p:nvSpPr>
          <p:cNvPr id="30" name="Text 26"/>
          <p:cNvSpPr txBox="1"/>
          <p:nvPr/>
        </p:nvSpPr>
        <p:spPr>
          <a:xfrm>
            <a:off x="4069080" y="4617720"/>
            <a:ext cx="2377440" cy="1371600"/>
          </a:xfrm>
          <a:prstGeom prst="rect">
            <a:avLst/>
          </a:prstGeom>
          <a:noFill/>
          <a:ln/>
        </p:spPr>
        <p:txBody>
          <a:bodyPr wrap="square" lIns="0" tIns="0" rIns="0" bIns="0" rtlCol="0" anchor="t"/>
          <a:lstStyle/>
          <a:p>
            <a:pPr indent="0" marL="0">
              <a:buNone/>
            </a:pPr>
            <a:r>
              <a:rPr lang="en-US" sz="1600" b="1" dirty="0">
                <a:solidFill>
                  <a:schemeClr val="tx1"/>
                </a:solidFill>
              </a:rPr>
              <a:t>Hata mı kural mı belli değil</a:t>
            </a:r>
            <a:endParaRPr lang="en-US" sz="1600" dirty="0"/>
          </a:p>
          <a:p>
            <a:pPr indent="0" marL="0">
              <a:buNone/>
            </a:pPr>
            <a:r>
              <a:rPr lang="en-US" sz="1400" dirty="0">
                <a:solidFill>
                  <a:schemeClr val="accent5"/>
                </a:solidFill>
              </a:rPr>
              <a:t>İş kuralı reddi ekranda teknik hatadan ayrılamıyor.</a:t>
            </a:r>
            <a:endParaRPr lang="en-US" sz="1600" dirty="0"/>
          </a:p>
        </p:txBody>
      </p:sp>
      <p:sp>
        <p:nvSpPr>
          <p:cNvPr id="31" name="pain-2-circle"/>
          <p:cNvSpPr/>
          <p:nvPr/>
        </p:nvSpPr>
        <p:spPr>
          <a:xfrm>
            <a:off x="6611112" y="3931920"/>
            <a:ext cx="548640" cy="548640"/>
          </a:xfrm>
          <a:prstGeom prst="ellipse">
            <a:avLst/>
          </a:prstGeom>
          <a:solidFill>
            <a:schemeClr val="tx2"/>
          </a:solidFill>
          <a:ln w="12700">
            <a:solidFill>
              <a:schemeClr val="tx2"/>
            </a:solidFill>
            <a:prstDash val="solid"/>
          </a:ln>
        </p:spPr>
      </p:sp>
      <p:pic>
        <p:nvPicPr>
          <p:cNvPr id="32" name="pain-2-icon" descr="preencoded.png">    </p:cNvPr>
          <p:cNvPicPr>
            <a:picLocks noChangeAspect="1"/>
          </p:cNvPicPr>
          <p:nvPr/>
        </p:nvPicPr>
        <p:blipFill>
          <a:blip r:embed="rId3"/>
          <a:stretch>
            <a:fillRect/>
          </a:stretch>
        </p:blipFill>
        <p:spPr>
          <a:xfrm>
            <a:off x="6753758" y="4074566"/>
            <a:ext cx="263347" cy="263347"/>
          </a:xfrm>
          <a:prstGeom prst="rect">
            <a:avLst/>
          </a:prstGeom>
        </p:spPr>
      </p:pic>
      <p:sp>
        <p:nvSpPr>
          <p:cNvPr id="33" name="Text 28"/>
          <p:cNvSpPr txBox="1"/>
          <p:nvPr/>
        </p:nvSpPr>
        <p:spPr>
          <a:xfrm>
            <a:off x="6611112" y="4617720"/>
            <a:ext cx="2377440" cy="1371600"/>
          </a:xfrm>
          <a:prstGeom prst="rect">
            <a:avLst/>
          </a:prstGeom>
          <a:noFill/>
          <a:ln/>
        </p:spPr>
        <p:txBody>
          <a:bodyPr wrap="square" lIns="0" tIns="0" rIns="0" bIns="0" rtlCol="0" anchor="t"/>
          <a:lstStyle/>
          <a:p>
            <a:pPr indent="0" marL="0">
              <a:buNone/>
            </a:pPr>
            <a:r>
              <a:rPr lang="en-US" sz="1600" b="1" dirty="0">
                <a:solidFill>
                  <a:schemeClr val="tx1"/>
                </a:solidFill>
              </a:rPr>
              <a:t>Aynı sorun, onlarca çağrı</a:t>
            </a:r>
            <a:endParaRPr lang="en-US" sz="1600" dirty="0"/>
          </a:p>
          <a:p>
            <a:pPr indent="0" marL="0">
              <a:buNone/>
            </a:pPr>
            <a:r>
              <a:rPr lang="en-US" sz="1400" dirty="0">
                <a:solidFill>
                  <a:schemeClr val="accent5"/>
                </a:solidFill>
              </a:rPr>
              <a:t>Kurum kaynaklı sorunda her arama ayrı kayıt; çözüm kişilerde.</a:t>
            </a:r>
            <a:endParaRPr lang="en-US" sz="1600" dirty="0"/>
          </a:p>
        </p:txBody>
      </p:sp>
      <p:sp>
        <p:nvSpPr>
          <p:cNvPr id="34" name="pain-3-circle"/>
          <p:cNvSpPr/>
          <p:nvPr/>
        </p:nvSpPr>
        <p:spPr>
          <a:xfrm>
            <a:off x="9153144" y="3931920"/>
            <a:ext cx="548640" cy="548640"/>
          </a:xfrm>
          <a:prstGeom prst="ellipse">
            <a:avLst/>
          </a:prstGeom>
          <a:solidFill>
            <a:schemeClr val="tx2"/>
          </a:solidFill>
          <a:ln w="12700">
            <a:solidFill>
              <a:schemeClr val="tx2"/>
            </a:solidFill>
            <a:prstDash val="solid"/>
          </a:ln>
        </p:spPr>
      </p:sp>
      <p:pic>
        <p:nvPicPr>
          <p:cNvPr id="35" name="pain-3-icon" descr="preencoded.png">    </p:cNvPr>
          <p:cNvPicPr>
            <a:picLocks noChangeAspect="1"/>
          </p:cNvPicPr>
          <p:nvPr/>
        </p:nvPicPr>
        <p:blipFill>
          <a:blip r:embed="rId4"/>
          <a:stretch>
            <a:fillRect/>
          </a:stretch>
        </p:blipFill>
        <p:spPr>
          <a:xfrm>
            <a:off x="9295790" y="4074566"/>
            <a:ext cx="263347" cy="263347"/>
          </a:xfrm>
          <a:prstGeom prst="rect">
            <a:avLst/>
          </a:prstGeom>
        </p:spPr>
      </p:pic>
      <p:sp>
        <p:nvSpPr>
          <p:cNvPr id="36" name="Text 30"/>
          <p:cNvSpPr txBox="1"/>
          <p:nvPr/>
        </p:nvSpPr>
        <p:spPr>
          <a:xfrm>
            <a:off x="9153144" y="4617720"/>
            <a:ext cx="2377440" cy="1371600"/>
          </a:xfrm>
          <a:prstGeom prst="rect">
            <a:avLst/>
          </a:prstGeom>
          <a:noFill/>
          <a:ln/>
        </p:spPr>
        <p:txBody>
          <a:bodyPr wrap="square" lIns="0" tIns="0" rIns="0" bIns="0" rtlCol="0" anchor="t"/>
          <a:lstStyle/>
          <a:p>
            <a:pPr indent="0" marL="0">
              <a:buNone/>
            </a:pPr>
            <a:r>
              <a:rPr lang="en-US" sz="1600" b="1" dirty="0">
                <a:solidFill>
                  <a:schemeClr val="tx1"/>
                </a:solidFill>
              </a:rPr>
              <a:t>Talepler veriden kopuk</a:t>
            </a:r>
            <a:endParaRPr lang="en-US" sz="1600" dirty="0"/>
          </a:p>
          <a:p>
            <a:pPr indent="0" marL="0">
              <a:buNone/>
            </a:pPr>
            <a:r>
              <a:rPr lang="en-US" sz="1400" dirty="0">
                <a:solidFill>
                  <a:schemeClr val="accent5"/>
                </a:solidFill>
              </a:rPr>
              <a:t>Efor toplantıda; erişim ve kapasite sorunları geç fark ediliyor.</a:t>
            </a:r>
            <a:endParaRPr lang="en-US" sz="16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indent="0" marL="0">
              <a:buNone/>
            </a:pPr>
            <a:r>
              <a:rPr lang="en-US" sz="3600" b="1" dirty="0">
                <a:solidFill>
                  <a:schemeClr val="tx1"/>
                </a:solidFill>
              </a:rPr>
              <a:t>Mercek: sorundan plana tek akış</a:t>
            </a:r>
            <a:endParaRPr lang="en-US" sz="3600" dirty="0"/>
          </a:p>
        </p:txBody>
      </p:sp>
      <p:sp>
        <p:nvSpPr>
          <p:cNvPr id="3" name="Text 1"/>
          <p:cNvSpPr txBox="1"/>
          <p:nvPr/>
        </p:nvSpPr>
        <p:spPr>
          <a:xfrm>
            <a:off x="548640" y="1234440"/>
            <a:ext cx="11064240" cy="777240"/>
          </a:xfrm>
          <a:prstGeom prst="rect">
            <a:avLst/>
          </a:prstGeom>
          <a:noFill/>
          <a:ln/>
        </p:spPr>
        <p:txBody>
          <a:bodyPr wrap="square" lIns="0" tIns="0" rIns="0" bIns="0" rtlCol="0" anchor="t"/>
          <a:lstStyle/>
          <a:p>
            <a:pPr indent="0" marL="0">
              <a:buNone/>
            </a:pPr>
            <a:r>
              <a:rPr lang="en-US" sz="1700" dirty="0">
                <a:solidFill>
                  <a:schemeClr val="tx2"/>
                </a:solidFill>
              </a:rPr>
              <a:t>Banka çalışanlarının ekranlarda yaşadığı sorunu loglardan, çağrı geçmişinden ve koddan açıklar; çağrıları doğru servise yönlendirip birleştirir ve iş birimi taleplerini servis bazlı efor ve takvimle plana dönüştürür.</a:t>
            </a:r>
            <a:endParaRPr lang="en-US" sz="1700" dirty="0"/>
          </a:p>
        </p:txBody>
      </p:sp>
      <p:sp>
        <p:nvSpPr>
          <p:cNvPr id="4" name="module-card-1"/>
          <p:cNvSpPr/>
          <p:nvPr/>
        </p:nvSpPr>
        <p:spPr>
          <a:xfrm>
            <a:off x="548640" y="2148840"/>
            <a:ext cx="5029200" cy="2788920"/>
          </a:xfrm>
          <a:prstGeom prst="roundRect">
            <a:avLst>
              <a:gd name="adj" fmla="val 3934"/>
            </a:avLst>
          </a:prstGeom>
          <a:solidFill>
            <a:schemeClr val="bg2"/>
          </a:solidFill>
          <a:ln w="12700">
            <a:solidFill>
              <a:schemeClr val="bg2"/>
            </a:solidFill>
            <a:prstDash val="solid"/>
          </a:ln>
        </p:spPr>
      </p:sp>
      <p:sp>
        <p:nvSpPr>
          <p:cNvPr id="5" name="module-1-circle"/>
          <p:cNvSpPr/>
          <p:nvPr/>
        </p:nvSpPr>
        <p:spPr>
          <a:xfrm>
            <a:off x="822960" y="2423160"/>
            <a:ext cx="685800" cy="685800"/>
          </a:xfrm>
          <a:prstGeom prst="ellipse">
            <a:avLst/>
          </a:prstGeom>
          <a:solidFill>
            <a:schemeClr val="accent2"/>
          </a:solidFill>
          <a:ln w="12700">
            <a:solidFill>
              <a:schemeClr val="accent2"/>
            </a:solidFill>
            <a:prstDash val="solid"/>
          </a:ln>
        </p:spPr>
      </p:sp>
      <p:pic>
        <p:nvPicPr>
          <p:cNvPr id="6" name="module-1-icon" descr="preencoded.png">    </p:cNvPr>
          <p:cNvPicPr>
            <a:picLocks noChangeAspect="1"/>
          </p:cNvPicPr>
          <p:nvPr/>
        </p:nvPicPr>
        <p:blipFill>
          <a:blip r:embed="rId1"/>
          <a:stretch>
            <a:fillRect/>
          </a:stretch>
        </p:blipFill>
        <p:spPr>
          <a:xfrm>
            <a:off x="1001268" y="2601468"/>
            <a:ext cx="329184" cy="329184"/>
          </a:xfrm>
          <a:prstGeom prst="rect">
            <a:avLst/>
          </a:prstGeom>
        </p:spPr>
      </p:pic>
      <p:sp>
        <p:nvSpPr>
          <p:cNvPr id="7" name="Text 4"/>
          <p:cNvSpPr txBox="1"/>
          <p:nvPr/>
        </p:nvSpPr>
        <p:spPr>
          <a:xfrm>
            <a:off x="1691640" y="2423160"/>
            <a:ext cx="3657600" cy="685800"/>
          </a:xfrm>
          <a:prstGeom prst="rect">
            <a:avLst/>
          </a:prstGeom>
          <a:noFill/>
          <a:ln/>
        </p:spPr>
        <p:txBody>
          <a:bodyPr wrap="square" lIns="0" tIns="0" rIns="0" bIns="0" rtlCol="0" anchor="ctr"/>
          <a:lstStyle/>
          <a:p>
            <a:pPr indent="0" marL="0">
              <a:buNone/>
            </a:pPr>
            <a:r>
              <a:rPr lang="en-US" sz="2000" b="1" dirty="0">
                <a:solidFill>
                  <a:schemeClr val="tx1"/>
                </a:solidFill>
              </a:rPr>
              <a:t>Akıllı Problem Çözüm ve Çağrı Yönetimi</a:t>
            </a:r>
            <a:endParaRPr lang="en-US" sz="2000" dirty="0"/>
          </a:p>
        </p:txBody>
      </p:sp>
      <p:sp>
        <p:nvSpPr>
          <p:cNvPr id="8" name="Text 5"/>
          <p:cNvSpPr txBox="1"/>
          <p:nvPr/>
        </p:nvSpPr>
        <p:spPr>
          <a:xfrm>
            <a:off x="822960" y="3291840"/>
            <a:ext cx="4480560" cy="14630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Ekran bağlamıyla logu bulur, iş kuralını hatadan ayırır</a:t>
            </a:r>
            <a:endParaRPr lang="en-US" sz="1500" dirty="0"/>
          </a:p>
          <a:p>
            <a:pPr marL="342900" indent="-342900">
              <a:spcAft>
                <a:spcPts val="600"/>
              </a:spcAft>
              <a:buSzPct val="100000"/>
              <a:buChar char="•"/>
            </a:pPr>
            <a:r>
              <a:rPr lang="en-US" sz="1500" dirty="0">
                <a:solidFill>
                  <a:schemeClr val="tx1"/>
                </a:solidFill>
              </a:rPr>
              <a:t>Çağrıyı servise atar, mükerrerleri ana kayda bağlar</a:t>
            </a:r>
            <a:endParaRPr lang="en-US" sz="1500" dirty="0"/>
          </a:p>
          <a:p>
            <a:pPr marL="342900" indent="-342900">
              <a:spcAft>
                <a:spcPts val="600"/>
              </a:spcAft>
              <a:buSzPct val="100000"/>
              <a:buChar char="•"/>
            </a:pPr>
            <a:r>
              <a:rPr lang="en-US" sz="1500" dirty="0">
                <a:solidFill>
                  <a:schemeClr val="tx1"/>
                </a:solidFill>
              </a:rPr>
              <a:t>Geçmiş çözümü bulur; yoksa duyuruya ve koda bakar</a:t>
            </a:r>
            <a:endParaRPr lang="en-US" sz="1500" dirty="0"/>
          </a:p>
        </p:txBody>
      </p:sp>
      <p:sp>
        <p:nvSpPr>
          <p:cNvPr id="9" name="module-card-2"/>
          <p:cNvSpPr/>
          <p:nvPr/>
        </p:nvSpPr>
        <p:spPr>
          <a:xfrm>
            <a:off x="6583680" y="2148840"/>
            <a:ext cx="5029200" cy="2788920"/>
          </a:xfrm>
          <a:prstGeom prst="roundRect">
            <a:avLst>
              <a:gd name="adj" fmla="val 3934"/>
            </a:avLst>
          </a:prstGeom>
          <a:solidFill>
            <a:schemeClr val="bg2"/>
          </a:solidFill>
          <a:ln w="12700">
            <a:solidFill>
              <a:schemeClr val="bg2"/>
            </a:solidFill>
            <a:prstDash val="solid"/>
          </a:ln>
        </p:spPr>
      </p:sp>
      <p:sp>
        <p:nvSpPr>
          <p:cNvPr id="10" name="module-2-circle"/>
          <p:cNvSpPr/>
          <p:nvPr/>
        </p:nvSpPr>
        <p:spPr>
          <a:xfrm>
            <a:off x="6858000" y="2423160"/>
            <a:ext cx="685800" cy="685800"/>
          </a:xfrm>
          <a:prstGeom prst="ellipse">
            <a:avLst/>
          </a:prstGeom>
          <a:solidFill>
            <a:schemeClr val="accent1"/>
          </a:solidFill>
          <a:ln w="12700">
            <a:solidFill>
              <a:schemeClr val="accent1"/>
            </a:solidFill>
            <a:prstDash val="solid"/>
          </a:ln>
        </p:spPr>
      </p:sp>
      <p:pic>
        <p:nvPicPr>
          <p:cNvPr id="11" name="module-2-icon" descr="preencoded.png">    </p:cNvPr>
          <p:cNvPicPr>
            <a:picLocks noChangeAspect="1"/>
          </p:cNvPicPr>
          <p:nvPr/>
        </p:nvPicPr>
        <p:blipFill>
          <a:blip r:embed="rId2"/>
          <a:stretch>
            <a:fillRect/>
          </a:stretch>
        </p:blipFill>
        <p:spPr>
          <a:xfrm>
            <a:off x="7036308" y="2601468"/>
            <a:ext cx="329184" cy="329184"/>
          </a:xfrm>
          <a:prstGeom prst="rect">
            <a:avLst/>
          </a:prstGeom>
        </p:spPr>
      </p:pic>
      <p:sp>
        <p:nvSpPr>
          <p:cNvPr id="12" name="Text 8"/>
          <p:cNvSpPr txBox="1"/>
          <p:nvPr/>
        </p:nvSpPr>
        <p:spPr>
          <a:xfrm>
            <a:off x="7726680" y="2423160"/>
            <a:ext cx="3657600" cy="685800"/>
          </a:xfrm>
          <a:prstGeom prst="rect">
            <a:avLst/>
          </a:prstGeom>
          <a:noFill/>
          <a:ln/>
        </p:spPr>
        <p:txBody>
          <a:bodyPr wrap="square" lIns="0" tIns="0" rIns="0" bIns="0" rtlCol="0" anchor="ctr"/>
          <a:lstStyle/>
          <a:p>
            <a:pPr indent="0" marL="0">
              <a:buNone/>
            </a:pPr>
            <a:r>
              <a:rPr lang="en-US" sz="2000" b="1" dirty="0">
                <a:solidFill>
                  <a:schemeClr val="tx1"/>
                </a:solidFill>
              </a:rPr>
              <a:t>Akıllı Talep Analizi, Efor ve Takvim</a:t>
            </a:r>
            <a:endParaRPr lang="en-US" sz="2000" dirty="0"/>
          </a:p>
        </p:txBody>
      </p:sp>
      <p:sp>
        <p:nvSpPr>
          <p:cNvPr id="13" name="Text 9"/>
          <p:cNvSpPr txBox="1"/>
          <p:nvPr/>
        </p:nvSpPr>
        <p:spPr>
          <a:xfrm>
            <a:off x="6858000" y="3291840"/>
            <a:ext cx="4480560" cy="14630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Talebi bileşenlere ayırır, ekranları ve servisleri bulur</a:t>
            </a:r>
            <a:endParaRPr lang="en-US" sz="1500" dirty="0"/>
          </a:p>
          <a:p>
            <a:pPr marL="342900" indent="-342900">
              <a:spcAft>
                <a:spcPts val="600"/>
              </a:spcAft>
              <a:buSzPct val="100000"/>
              <a:buChar char="•"/>
            </a:pPr>
            <a:r>
              <a:rPr lang="en-US" sz="1500" dirty="0">
                <a:solidFill>
                  <a:schemeClr val="tx1"/>
                </a:solidFill>
              </a:rPr>
              <a:t>Benzer taleplerden adam-gün, servis takviminden plan</a:t>
            </a:r>
            <a:endParaRPr lang="en-US" sz="1500" dirty="0"/>
          </a:p>
          <a:p>
            <a:pPr marL="342900" indent="-342900">
              <a:spcAft>
                <a:spcPts val="600"/>
              </a:spcAft>
              <a:buSzPct val="100000"/>
              <a:buChar char="•"/>
            </a:pPr>
            <a:r>
              <a:rPr lang="en-US" sz="1500" dirty="0">
                <a:solidFill>
                  <a:schemeClr val="tx1"/>
                </a:solidFill>
              </a:rPr>
              <a:t>Çağrı ve müşteri verisiyle kapsamı düzeltir</a:t>
            </a:r>
            <a:endParaRPr lang="en-US" sz="1500" dirty="0"/>
          </a:p>
        </p:txBody>
      </p:sp>
      <p:sp>
        <p:nvSpPr>
          <p:cNvPr id="14" name="bridge-pill"/>
          <p:cNvSpPr/>
          <p:nvPr/>
        </p:nvSpPr>
        <p:spPr>
          <a:xfrm>
            <a:off x="5623560" y="3063240"/>
            <a:ext cx="914400" cy="960120"/>
          </a:xfrm>
          <a:prstGeom prst="roundRect">
            <a:avLst>
              <a:gd name="adj" fmla="val 15000"/>
            </a:avLst>
          </a:prstGeom>
          <a:solidFill>
            <a:schemeClr val="tx1"/>
          </a:solidFill>
          <a:ln w="12700">
            <a:solidFill>
              <a:schemeClr val="tx1"/>
            </a:solidFill>
            <a:prstDash val="solid"/>
          </a:ln>
        </p:spPr>
      </p:sp>
      <p:sp>
        <p:nvSpPr>
          <p:cNvPr id="15" name="Text 11"/>
          <p:cNvSpPr txBox="1"/>
          <p:nvPr/>
        </p:nvSpPr>
        <p:spPr>
          <a:xfrm>
            <a:off x="5623560" y="3063240"/>
            <a:ext cx="914400" cy="960120"/>
          </a:xfrm>
          <a:prstGeom prst="rect">
            <a:avLst/>
          </a:prstGeom>
          <a:noFill/>
          <a:ln/>
        </p:spPr>
        <p:txBody>
          <a:bodyPr wrap="square" lIns="0" tIns="0" rIns="0" bIns="0" rtlCol="0" anchor="ctr"/>
          <a:lstStyle/>
          <a:p>
            <a:pPr algn="ctr" indent="0" marL="0">
              <a:buNone/>
            </a:pPr>
            <a:r>
              <a:rPr lang="en-US" sz="1200" b="1" dirty="0">
                <a:solidFill>
                  <a:schemeClr val="accent1"/>
                </a:solidFill>
              </a:rPr>
              <a:t>veri</a:t>
            </a:r>
            <a:endParaRPr lang="en-US" sz="1200" dirty="0"/>
          </a:p>
          <a:p>
            <a:pPr algn="ctr" indent="0" marL="0">
              <a:buNone/>
            </a:pPr>
            <a:r>
              <a:rPr lang="en-US" sz="1200" b="1" dirty="0">
                <a:solidFill>
                  <a:schemeClr val="accent1"/>
                </a:solidFill>
              </a:rPr>
              <a:t>→</a:t>
            </a:r>
            <a:endParaRPr lang="en-US" sz="1200" dirty="0"/>
          </a:p>
          <a:p>
            <a:pPr algn="ctr" indent="0" marL="0">
              <a:buNone/>
            </a:pPr>
            <a:r>
              <a:rPr lang="en-US" sz="1200" b="1" dirty="0">
                <a:solidFill>
                  <a:schemeClr val="accent1"/>
                </a:solidFill>
              </a:rPr>
              <a:t>kapsam</a:t>
            </a:r>
            <a:endParaRPr lang="en-US" sz="1200" dirty="0"/>
          </a:p>
        </p:txBody>
      </p:sp>
      <p:sp>
        <p:nvSpPr>
          <p:cNvPr id="16" name="Text 12"/>
          <p:cNvSpPr txBox="1"/>
          <p:nvPr/>
        </p:nvSpPr>
        <p:spPr>
          <a:xfrm>
            <a:off x="548640" y="5257800"/>
            <a:ext cx="2103120" cy="457200"/>
          </a:xfrm>
          <a:prstGeom prst="rect">
            <a:avLst/>
          </a:prstGeom>
          <a:noFill/>
          <a:ln/>
        </p:spPr>
        <p:txBody>
          <a:bodyPr wrap="square" lIns="0" tIns="0" rIns="0" bIns="0" rtlCol="0" anchor="ctr"/>
          <a:lstStyle/>
          <a:p>
            <a:pPr indent="0" marL="0">
              <a:buNone/>
            </a:pPr>
            <a:r>
              <a:rPr lang="en-US" sz="1600" b="1" dirty="0">
                <a:solidFill>
                  <a:schemeClr val="tx1"/>
                </a:solidFill>
              </a:rPr>
              <a:t>Kullanıcılar</a:t>
            </a:r>
            <a:endParaRPr lang="en-US" sz="1600" dirty="0"/>
          </a:p>
        </p:txBody>
      </p:sp>
      <p:sp>
        <p:nvSpPr>
          <p:cNvPr id="17" name="user-chip-1"/>
          <p:cNvSpPr/>
          <p:nvPr/>
        </p:nvSpPr>
        <p:spPr>
          <a:xfrm>
            <a:off x="2651760" y="5212080"/>
            <a:ext cx="2057400" cy="548640"/>
          </a:xfrm>
          <a:prstGeom prst="roundRect">
            <a:avLst>
              <a:gd name="adj" fmla="val 50000"/>
            </a:avLst>
          </a:prstGeom>
          <a:solidFill>
            <a:schemeClr val="bg2"/>
          </a:solidFill>
          <a:ln w="12700">
            <a:solidFill>
              <a:schemeClr val="bg2"/>
            </a:solidFill>
            <a:prstDash val="solid"/>
          </a:ln>
        </p:spPr>
      </p:sp>
      <p:pic>
        <p:nvPicPr>
          <p:cNvPr id="18" name="Image 2" descr="preencoded.png">    </p:cNvPr>
          <p:cNvPicPr>
            <a:picLocks noChangeAspect="1"/>
          </p:cNvPicPr>
          <p:nvPr/>
        </p:nvPicPr>
        <p:blipFill>
          <a:blip r:embed="rId3"/>
          <a:stretch>
            <a:fillRect/>
          </a:stretch>
        </p:blipFill>
        <p:spPr>
          <a:xfrm>
            <a:off x="2834640" y="5349240"/>
            <a:ext cx="274320" cy="274320"/>
          </a:xfrm>
          <a:prstGeom prst="rect">
            <a:avLst/>
          </a:prstGeom>
        </p:spPr>
      </p:pic>
      <p:sp>
        <p:nvSpPr>
          <p:cNvPr id="19" name="Text 14"/>
          <p:cNvSpPr txBox="1"/>
          <p:nvPr/>
        </p:nvSpPr>
        <p:spPr>
          <a:xfrm>
            <a:off x="3200400" y="5212080"/>
            <a:ext cx="1463040" cy="548640"/>
          </a:xfrm>
          <a:prstGeom prst="rect">
            <a:avLst/>
          </a:prstGeom>
          <a:noFill/>
          <a:ln/>
        </p:spPr>
        <p:txBody>
          <a:bodyPr wrap="square" lIns="0" tIns="0" rIns="0" bIns="0" rtlCol="0" anchor="ctr"/>
          <a:lstStyle/>
          <a:p>
            <a:pPr indent="0" marL="0">
              <a:buNone/>
            </a:pPr>
            <a:r>
              <a:rPr lang="en-US" sz="1300" dirty="0">
                <a:solidFill>
                  <a:schemeClr val="tx1"/>
                </a:solidFill>
              </a:rPr>
              <a:t>Şube, çağrı merkezi</a:t>
            </a:r>
            <a:endParaRPr lang="en-US" sz="1300" dirty="0"/>
          </a:p>
        </p:txBody>
      </p:sp>
      <p:sp>
        <p:nvSpPr>
          <p:cNvPr id="20" name="user-chip-2"/>
          <p:cNvSpPr/>
          <p:nvPr/>
        </p:nvSpPr>
        <p:spPr>
          <a:xfrm>
            <a:off x="4892040" y="5212080"/>
            <a:ext cx="2057400" cy="548640"/>
          </a:xfrm>
          <a:prstGeom prst="roundRect">
            <a:avLst>
              <a:gd name="adj" fmla="val 50000"/>
            </a:avLst>
          </a:prstGeom>
          <a:solidFill>
            <a:schemeClr val="bg2"/>
          </a:solidFill>
          <a:ln w="12700">
            <a:solidFill>
              <a:schemeClr val="bg2"/>
            </a:solidFill>
            <a:prstDash val="solid"/>
          </a:ln>
        </p:spPr>
      </p:sp>
      <p:pic>
        <p:nvPicPr>
          <p:cNvPr id="21" name="Image 3" descr="preencoded.png">    </p:cNvPr>
          <p:cNvPicPr>
            <a:picLocks noChangeAspect="1"/>
          </p:cNvPicPr>
          <p:nvPr/>
        </p:nvPicPr>
        <p:blipFill>
          <a:blip r:embed="rId4"/>
          <a:stretch>
            <a:fillRect/>
          </a:stretch>
        </p:blipFill>
        <p:spPr>
          <a:xfrm>
            <a:off x="5074920" y="5349240"/>
            <a:ext cx="274320" cy="274320"/>
          </a:xfrm>
          <a:prstGeom prst="rect">
            <a:avLst/>
          </a:prstGeom>
        </p:spPr>
      </p:pic>
      <p:sp>
        <p:nvSpPr>
          <p:cNvPr id="22" name="Text 16"/>
          <p:cNvSpPr txBox="1"/>
          <p:nvPr/>
        </p:nvSpPr>
        <p:spPr>
          <a:xfrm>
            <a:off x="5440680" y="5212080"/>
            <a:ext cx="1463040" cy="548640"/>
          </a:xfrm>
          <a:prstGeom prst="rect">
            <a:avLst/>
          </a:prstGeom>
          <a:noFill/>
          <a:ln/>
        </p:spPr>
        <p:txBody>
          <a:bodyPr wrap="square" lIns="0" tIns="0" rIns="0" bIns="0" rtlCol="0" anchor="ctr"/>
          <a:lstStyle/>
          <a:p>
            <a:pPr indent="0" marL="0">
              <a:buNone/>
            </a:pPr>
            <a:r>
              <a:rPr lang="en-US" sz="1300" dirty="0">
                <a:solidFill>
                  <a:schemeClr val="tx1"/>
                </a:solidFill>
              </a:rPr>
              <a:t>L2, platform</a:t>
            </a:r>
            <a:endParaRPr lang="en-US" sz="1300" dirty="0"/>
          </a:p>
        </p:txBody>
      </p:sp>
      <p:sp>
        <p:nvSpPr>
          <p:cNvPr id="23" name="user-chip-3"/>
          <p:cNvSpPr/>
          <p:nvPr/>
        </p:nvSpPr>
        <p:spPr>
          <a:xfrm>
            <a:off x="7132320" y="5212080"/>
            <a:ext cx="2057400" cy="548640"/>
          </a:xfrm>
          <a:prstGeom prst="roundRect">
            <a:avLst>
              <a:gd name="adj" fmla="val 50000"/>
            </a:avLst>
          </a:prstGeom>
          <a:solidFill>
            <a:schemeClr val="bg2"/>
          </a:solidFill>
          <a:ln w="12700">
            <a:solidFill>
              <a:schemeClr val="bg2"/>
            </a:solidFill>
            <a:prstDash val="solid"/>
          </a:ln>
        </p:spPr>
      </p:sp>
      <p:pic>
        <p:nvPicPr>
          <p:cNvPr id="24" name="Image 4" descr="preencoded.png">    </p:cNvPr>
          <p:cNvPicPr>
            <a:picLocks noChangeAspect="1"/>
          </p:cNvPicPr>
          <p:nvPr/>
        </p:nvPicPr>
        <p:blipFill>
          <a:blip r:embed="rId5"/>
          <a:stretch>
            <a:fillRect/>
          </a:stretch>
        </p:blipFill>
        <p:spPr>
          <a:xfrm>
            <a:off x="7315200" y="5349240"/>
            <a:ext cx="274320" cy="274320"/>
          </a:xfrm>
          <a:prstGeom prst="rect">
            <a:avLst/>
          </a:prstGeom>
        </p:spPr>
      </p:pic>
      <p:sp>
        <p:nvSpPr>
          <p:cNvPr id="25" name="Text 18"/>
          <p:cNvSpPr txBox="1"/>
          <p:nvPr/>
        </p:nvSpPr>
        <p:spPr>
          <a:xfrm>
            <a:off x="7680960" y="5212080"/>
            <a:ext cx="1463040" cy="548640"/>
          </a:xfrm>
          <a:prstGeom prst="rect">
            <a:avLst/>
          </a:prstGeom>
          <a:noFill/>
          <a:ln/>
        </p:spPr>
        <p:txBody>
          <a:bodyPr wrap="square" lIns="0" tIns="0" rIns="0" bIns="0" rtlCol="0" anchor="ctr"/>
          <a:lstStyle/>
          <a:p>
            <a:pPr indent="0" marL="0">
              <a:buNone/>
            </a:pPr>
            <a:r>
              <a:rPr lang="en-US" sz="1300" dirty="0">
                <a:solidFill>
                  <a:schemeClr val="tx1"/>
                </a:solidFill>
              </a:rPr>
              <a:t>İş birimleri</a:t>
            </a:r>
            <a:endParaRPr lang="en-US" sz="1300" dirty="0"/>
          </a:p>
        </p:txBody>
      </p:sp>
      <p:sp>
        <p:nvSpPr>
          <p:cNvPr id="26" name="user-chip-4"/>
          <p:cNvSpPr/>
          <p:nvPr/>
        </p:nvSpPr>
        <p:spPr>
          <a:xfrm>
            <a:off x="9372600" y="5212080"/>
            <a:ext cx="2057400" cy="548640"/>
          </a:xfrm>
          <a:prstGeom prst="roundRect">
            <a:avLst>
              <a:gd name="adj" fmla="val 50000"/>
            </a:avLst>
          </a:prstGeom>
          <a:solidFill>
            <a:schemeClr val="bg2"/>
          </a:solidFill>
          <a:ln w="12700">
            <a:solidFill>
              <a:schemeClr val="bg2"/>
            </a:solidFill>
            <a:prstDash val="solid"/>
          </a:ln>
        </p:spPr>
      </p:sp>
      <p:pic>
        <p:nvPicPr>
          <p:cNvPr id="27" name="Image 5" descr="preencoded.png">    </p:cNvPr>
          <p:cNvPicPr>
            <a:picLocks noChangeAspect="1"/>
          </p:cNvPicPr>
          <p:nvPr/>
        </p:nvPicPr>
        <p:blipFill>
          <a:blip r:embed="rId6"/>
          <a:stretch>
            <a:fillRect/>
          </a:stretch>
        </p:blipFill>
        <p:spPr>
          <a:xfrm>
            <a:off x="9555480" y="5349240"/>
            <a:ext cx="274320" cy="274320"/>
          </a:xfrm>
          <a:prstGeom prst="rect">
            <a:avLst/>
          </a:prstGeom>
        </p:spPr>
      </p:pic>
      <p:sp>
        <p:nvSpPr>
          <p:cNvPr id="28" name="Text 20"/>
          <p:cNvSpPr txBox="1"/>
          <p:nvPr/>
        </p:nvSpPr>
        <p:spPr>
          <a:xfrm>
            <a:off x="9921240" y="5212080"/>
            <a:ext cx="1463040" cy="548640"/>
          </a:xfrm>
          <a:prstGeom prst="rect">
            <a:avLst/>
          </a:prstGeom>
          <a:noFill/>
          <a:ln/>
        </p:spPr>
        <p:txBody>
          <a:bodyPr wrap="square" lIns="0" tIns="0" rIns="0" bIns="0" rtlCol="0" anchor="ctr"/>
          <a:lstStyle/>
          <a:p>
            <a:pPr indent="0" marL="0">
              <a:buNone/>
            </a:pPr>
            <a:r>
              <a:rPr lang="en-US" sz="1300" dirty="0">
                <a:solidFill>
                  <a:schemeClr val="tx1"/>
                </a:solidFill>
              </a:rPr>
              <a:t>İş analisti</a:t>
            </a:r>
            <a:endParaRPr lang="en-US" sz="13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indent="0" marL="0">
              <a:buNone/>
            </a:pPr>
            <a:r>
              <a:rPr lang="en-US" sz="3600" b="1" dirty="0">
                <a:solidFill>
                  <a:schemeClr val="tx1"/>
                </a:solidFill>
              </a:rPr>
              <a:t>Dört farkımız</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800" dirty="0">
                <a:solidFill>
                  <a:schemeClr val="tx2"/>
                </a:solidFill>
              </a:rPr>
              <a:t>Bugünkü araçlar sorunu kaydeder; Mercek sorunu açıklar, kaynağına bağlar ve yeni talebin planına taşır.</a:t>
            </a:r>
            <a:endParaRPr lang="en-US" sz="1800" dirty="0"/>
          </a:p>
        </p:txBody>
      </p:sp>
      <p:sp>
        <p:nvSpPr>
          <p:cNvPr id="4" name="diff-card-1"/>
          <p:cNvSpPr/>
          <p:nvPr/>
        </p:nvSpPr>
        <p:spPr>
          <a:xfrm>
            <a:off x="548640" y="1783080"/>
            <a:ext cx="5349240" cy="2011680"/>
          </a:xfrm>
          <a:prstGeom prst="roundRect">
            <a:avLst>
              <a:gd name="adj" fmla="val 5455"/>
            </a:avLst>
          </a:prstGeom>
          <a:solidFill>
            <a:schemeClr val="bg2"/>
          </a:solidFill>
          <a:ln w="12700">
            <a:solidFill>
              <a:schemeClr val="bg2"/>
            </a:solidFill>
            <a:prstDash val="solid"/>
          </a:ln>
        </p:spPr>
      </p:sp>
      <p:sp>
        <p:nvSpPr>
          <p:cNvPr id="5" name="diff-1-circle"/>
          <p:cNvSpPr/>
          <p:nvPr/>
        </p:nvSpPr>
        <p:spPr>
          <a:xfrm>
            <a:off x="868680" y="2148840"/>
            <a:ext cx="777240" cy="777240"/>
          </a:xfrm>
          <a:prstGeom prst="ellipse">
            <a:avLst/>
          </a:prstGeom>
          <a:solidFill>
            <a:schemeClr val="accent1"/>
          </a:solidFill>
          <a:ln w="12700">
            <a:solidFill>
              <a:schemeClr val="accent1"/>
            </a:solidFill>
            <a:prstDash val="solid"/>
          </a:ln>
        </p:spPr>
      </p:sp>
      <p:pic>
        <p:nvPicPr>
          <p:cNvPr id="6" name="diff-1-icon" descr="preencoded.png">    </p:cNvPr>
          <p:cNvPicPr>
            <a:picLocks noChangeAspect="1"/>
          </p:cNvPicPr>
          <p:nvPr/>
        </p:nvPicPr>
        <p:blipFill>
          <a:blip r:embed="rId1"/>
          <a:stretch>
            <a:fillRect/>
          </a:stretch>
        </p:blipFill>
        <p:spPr>
          <a:xfrm>
            <a:off x="1070762" y="2350922"/>
            <a:ext cx="373075" cy="373075"/>
          </a:xfrm>
          <a:prstGeom prst="rect">
            <a:avLst/>
          </a:prstGeom>
        </p:spPr>
      </p:pic>
      <p:sp>
        <p:nvSpPr>
          <p:cNvPr id="7" name="Text 4"/>
          <p:cNvSpPr txBox="1"/>
          <p:nvPr/>
        </p:nvSpPr>
        <p:spPr>
          <a:xfrm>
            <a:off x="1920240" y="2103120"/>
            <a:ext cx="3703320" cy="1463040"/>
          </a:xfrm>
          <a:prstGeom prst="rect">
            <a:avLst/>
          </a:prstGeom>
          <a:noFill/>
          <a:ln/>
        </p:spPr>
        <p:txBody>
          <a:bodyPr wrap="square" lIns="0" tIns="0" rIns="0" bIns="0" rtlCol="0" anchor="t"/>
          <a:lstStyle/>
          <a:p>
            <a:pPr indent="0" marL="0">
              <a:spcAft>
                <a:spcPts val="400"/>
              </a:spcAft>
              <a:buNone/>
            </a:pPr>
            <a:r>
              <a:rPr lang="en-US" sz="2200" b="1" dirty="0">
                <a:solidFill>
                  <a:schemeClr val="tx1"/>
                </a:solidFill>
              </a:rPr>
              <a:t>Bağlamı bilir</a:t>
            </a:r>
            <a:endParaRPr lang="en-US" sz="2200" dirty="0"/>
          </a:p>
          <a:p>
            <a:pPr indent="0" marL="0">
              <a:spcAft>
                <a:spcPts val="400"/>
              </a:spcAft>
              <a:buNone/>
            </a:pPr>
            <a:r>
              <a:rPr lang="en-US" sz="1500" dirty="0">
                <a:solidFill>
                  <a:schemeClr val="tx2"/>
                </a:solidFill>
              </a:rPr>
              <a:t>Ekran kodu, son işlemin logu ve temsilcinin cümlesiyle çalışır; kullanıcı yazmadan açıklar ve ekranı doğru değerlerle doldurur.</a:t>
            </a:r>
            <a:endParaRPr lang="en-US" sz="2200" dirty="0"/>
          </a:p>
        </p:txBody>
      </p:sp>
      <p:sp>
        <p:nvSpPr>
          <p:cNvPr id="8" name="diff-card-2"/>
          <p:cNvSpPr/>
          <p:nvPr/>
        </p:nvSpPr>
        <p:spPr>
          <a:xfrm>
            <a:off x="6263640" y="1783080"/>
            <a:ext cx="5349240" cy="2011680"/>
          </a:xfrm>
          <a:prstGeom prst="roundRect">
            <a:avLst>
              <a:gd name="adj" fmla="val 5455"/>
            </a:avLst>
          </a:prstGeom>
          <a:solidFill>
            <a:schemeClr val="bg2"/>
          </a:solidFill>
          <a:ln w="12700">
            <a:solidFill>
              <a:schemeClr val="bg2"/>
            </a:solidFill>
            <a:prstDash val="solid"/>
          </a:ln>
        </p:spPr>
      </p:sp>
      <p:sp>
        <p:nvSpPr>
          <p:cNvPr id="9" name="diff-2-circle"/>
          <p:cNvSpPr/>
          <p:nvPr/>
        </p:nvSpPr>
        <p:spPr>
          <a:xfrm>
            <a:off x="6583680" y="2148840"/>
            <a:ext cx="777240" cy="777240"/>
          </a:xfrm>
          <a:prstGeom prst="ellipse">
            <a:avLst/>
          </a:prstGeom>
          <a:solidFill>
            <a:schemeClr val="accent2"/>
          </a:solidFill>
          <a:ln w="12700">
            <a:solidFill>
              <a:schemeClr val="accent2"/>
            </a:solidFill>
            <a:prstDash val="solid"/>
          </a:ln>
        </p:spPr>
      </p:sp>
      <p:pic>
        <p:nvPicPr>
          <p:cNvPr id="10" name="diff-2-icon" descr="preencoded.png">    </p:cNvPr>
          <p:cNvPicPr>
            <a:picLocks noChangeAspect="1"/>
          </p:cNvPicPr>
          <p:nvPr/>
        </p:nvPicPr>
        <p:blipFill>
          <a:blip r:embed="rId2"/>
          <a:stretch>
            <a:fillRect/>
          </a:stretch>
        </p:blipFill>
        <p:spPr>
          <a:xfrm>
            <a:off x="6785762" y="2350922"/>
            <a:ext cx="373075" cy="373075"/>
          </a:xfrm>
          <a:prstGeom prst="rect">
            <a:avLst/>
          </a:prstGeom>
        </p:spPr>
      </p:pic>
      <p:sp>
        <p:nvSpPr>
          <p:cNvPr id="11" name="Text 7"/>
          <p:cNvSpPr txBox="1"/>
          <p:nvPr/>
        </p:nvSpPr>
        <p:spPr>
          <a:xfrm>
            <a:off x="7635240" y="2103120"/>
            <a:ext cx="3703320" cy="1463040"/>
          </a:xfrm>
          <a:prstGeom prst="rect">
            <a:avLst/>
          </a:prstGeom>
          <a:noFill/>
          <a:ln/>
        </p:spPr>
        <p:txBody>
          <a:bodyPr wrap="square" lIns="0" tIns="0" rIns="0" bIns="0" rtlCol="0" anchor="t"/>
          <a:lstStyle/>
          <a:p>
            <a:pPr indent="0" marL="0">
              <a:spcAft>
                <a:spcPts val="400"/>
              </a:spcAft>
              <a:buNone/>
            </a:pPr>
            <a:r>
              <a:rPr lang="en-US" sz="2200" b="1" dirty="0">
                <a:solidFill>
                  <a:schemeClr val="tx1"/>
                </a:solidFill>
              </a:rPr>
              <a:t>Üç kaynağı birleştirir</a:t>
            </a:r>
            <a:endParaRPr lang="en-US" sz="2200" dirty="0"/>
          </a:p>
          <a:p>
            <a:pPr indent="0" marL="0">
              <a:spcAft>
                <a:spcPts val="400"/>
              </a:spcAft>
              <a:buNone/>
            </a:pPr>
            <a:r>
              <a:rPr lang="en-US" sz="1500" dirty="0">
                <a:solidFill>
                  <a:schemeClr val="tx2"/>
                </a:solidFill>
              </a:rPr>
              <a:t>Log (ne oluyor), kurum duyurusu (neden) ve uygulama kodu (nerede düzeltilir) tek analizde.</a:t>
            </a:r>
            <a:endParaRPr lang="en-US" sz="2200" dirty="0"/>
          </a:p>
        </p:txBody>
      </p:sp>
      <p:sp>
        <p:nvSpPr>
          <p:cNvPr id="12" name="diff-card-3"/>
          <p:cNvSpPr/>
          <p:nvPr/>
        </p:nvSpPr>
        <p:spPr>
          <a:xfrm>
            <a:off x="548640" y="4023360"/>
            <a:ext cx="5349240" cy="2011680"/>
          </a:xfrm>
          <a:prstGeom prst="roundRect">
            <a:avLst>
              <a:gd name="adj" fmla="val 5455"/>
            </a:avLst>
          </a:prstGeom>
          <a:solidFill>
            <a:schemeClr val="bg2"/>
          </a:solidFill>
          <a:ln w="12700">
            <a:solidFill>
              <a:schemeClr val="bg2"/>
            </a:solidFill>
            <a:prstDash val="solid"/>
          </a:ln>
        </p:spPr>
      </p:sp>
      <p:sp>
        <p:nvSpPr>
          <p:cNvPr id="13" name="diff-3-circle"/>
          <p:cNvSpPr/>
          <p:nvPr/>
        </p:nvSpPr>
        <p:spPr>
          <a:xfrm>
            <a:off x="868680" y="4389120"/>
            <a:ext cx="777240" cy="777240"/>
          </a:xfrm>
          <a:prstGeom prst="ellipse">
            <a:avLst/>
          </a:prstGeom>
          <a:solidFill>
            <a:schemeClr val="tx2"/>
          </a:solidFill>
          <a:ln w="12700">
            <a:solidFill>
              <a:schemeClr val="tx2"/>
            </a:solidFill>
            <a:prstDash val="solid"/>
          </a:ln>
        </p:spPr>
      </p:sp>
      <p:pic>
        <p:nvPicPr>
          <p:cNvPr id="14" name="diff-3-icon" descr="preencoded.png">    </p:cNvPr>
          <p:cNvPicPr>
            <a:picLocks noChangeAspect="1"/>
          </p:cNvPicPr>
          <p:nvPr/>
        </p:nvPicPr>
        <p:blipFill>
          <a:blip r:embed="rId3"/>
          <a:stretch>
            <a:fillRect/>
          </a:stretch>
        </p:blipFill>
        <p:spPr>
          <a:xfrm>
            <a:off x="1070762" y="4591202"/>
            <a:ext cx="373075" cy="373075"/>
          </a:xfrm>
          <a:prstGeom prst="rect">
            <a:avLst/>
          </a:prstGeom>
        </p:spPr>
      </p:pic>
      <p:sp>
        <p:nvSpPr>
          <p:cNvPr id="15" name="Text 10"/>
          <p:cNvSpPr txBox="1"/>
          <p:nvPr/>
        </p:nvSpPr>
        <p:spPr>
          <a:xfrm>
            <a:off x="1920240" y="4343400"/>
            <a:ext cx="3703320" cy="1463040"/>
          </a:xfrm>
          <a:prstGeom prst="rect">
            <a:avLst/>
          </a:prstGeom>
          <a:noFill/>
          <a:ln/>
        </p:spPr>
        <p:txBody>
          <a:bodyPr wrap="square" lIns="0" tIns="0" rIns="0" bIns="0" rtlCol="0" anchor="t"/>
          <a:lstStyle/>
          <a:p>
            <a:pPr indent="0" marL="0">
              <a:spcAft>
                <a:spcPts val="400"/>
              </a:spcAft>
              <a:buNone/>
            </a:pPr>
            <a:r>
              <a:rPr lang="en-US" sz="2200" b="1" dirty="0">
                <a:solidFill>
                  <a:schemeClr val="tx1"/>
                </a:solidFill>
              </a:rPr>
              <a:t>Kapalı döngü</a:t>
            </a:r>
            <a:endParaRPr lang="en-US" sz="2200" dirty="0"/>
          </a:p>
          <a:p>
            <a:pPr indent="0" marL="0">
              <a:spcAft>
                <a:spcPts val="400"/>
              </a:spcAft>
              <a:buNone/>
            </a:pPr>
            <a:r>
              <a:rPr lang="en-US" sz="1500" dirty="0">
                <a:solidFill>
                  <a:schemeClr val="tx2"/>
                </a:solidFill>
              </a:rPr>
              <a:t>Çağrı ve müşteri verisi, talebin değerini kanıtlar ve eksik kapsamı talep anında gösterir.</a:t>
            </a:r>
            <a:endParaRPr lang="en-US" sz="2200" dirty="0"/>
          </a:p>
        </p:txBody>
      </p:sp>
      <p:sp>
        <p:nvSpPr>
          <p:cNvPr id="16" name="diff-card-4"/>
          <p:cNvSpPr/>
          <p:nvPr/>
        </p:nvSpPr>
        <p:spPr>
          <a:xfrm>
            <a:off x="6263640" y="4023360"/>
            <a:ext cx="5349240" cy="2011680"/>
          </a:xfrm>
          <a:prstGeom prst="roundRect">
            <a:avLst>
              <a:gd name="adj" fmla="val 5455"/>
            </a:avLst>
          </a:prstGeom>
          <a:solidFill>
            <a:schemeClr val="bg2"/>
          </a:solidFill>
          <a:ln w="12700">
            <a:solidFill>
              <a:schemeClr val="bg2"/>
            </a:solidFill>
            <a:prstDash val="solid"/>
          </a:ln>
        </p:spPr>
      </p:sp>
      <p:sp>
        <p:nvSpPr>
          <p:cNvPr id="17" name="diff-4-circle"/>
          <p:cNvSpPr/>
          <p:nvPr/>
        </p:nvSpPr>
        <p:spPr>
          <a:xfrm>
            <a:off x="6583680" y="4389120"/>
            <a:ext cx="777240" cy="777240"/>
          </a:xfrm>
          <a:prstGeom prst="ellipse">
            <a:avLst/>
          </a:prstGeom>
          <a:solidFill>
            <a:schemeClr val="accent3"/>
          </a:solidFill>
          <a:ln w="12700">
            <a:solidFill>
              <a:schemeClr val="accent3"/>
            </a:solidFill>
            <a:prstDash val="solid"/>
          </a:ln>
        </p:spPr>
      </p:sp>
      <p:pic>
        <p:nvPicPr>
          <p:cNvPr id="18" name="diff-4-icon" descr="preencoded.png">    </p:cNvPr>
          <p:cNvPicPr>
            <a:picLocks noChangeAspect="1"/>
          </p:cNvPicPr>
          <p:nvPr/>
        </p:nvPicPr>
        <p:blipFill>
          <a:blip r:embed="rId4"/>
          <a:stretch>
            <a:fillRect/>
          </a:stretch>
        </p:blipFill>
        <p:spPr>
          <a:xfrm>
            <a:off x="6785762" y="4591202"/>
            <a:ext cx="373075" cy="373075"/>
          </a:xfrm>
          <a:prstGeom prst="rect">
            <a:avLst/>
          </a:prstGeom>
        </p:spPr>
      </p:pic>
      <p:sp>
        <p:nvSpPr>
          <p:cNvPr id="19" name="Text 13"/>
          <p:cNvSpPr txBox="1"/>
          <p:nvPr/>
        </p:nvSpPr>
        <p:spPr>
          <a:xfrm>
            <a:off x="7635240" y="4343400"/>
            <a:ext cx="3703320" cy="1463040"/>
          </a:xfrm>
          <a:prstGeom prst="rect">
            <a:avLst/>
          </a:prstGeom>
          <a:noFill/>
          <a:ln/>
        </p:spPr>
        <p:txBody>
          <a:bodyPr wrap="square" lIns="0" tIns="0" rIns="0" bIns="0" rtlCol="0" anchor="t"/>
          <a:lstStyle/>
          <a:p>
            <a:pPr indent="0" marL="0">
              <a:spcAft>
                <a:spcPts val="400"/>
              </a:spcAft>
              <a:buNone/>
            </a:pPr>
            <a:r>
              <a:rPr lang="en-US" sz="2200" b="1" dirty="0">
                <a:solidFill>
                  <a:schemeClr val="tx1"/>
                </a:solidFill>
              </a:rPr>
              <a:t>Güvenilir AI</a:t>
            </a:r>
            <a:endParaRPr lang="en-US" sz="2200" dirty="0"/>
          </a:p>
          <a:p>
            <a:pPr indent="0" marL="0">
              <a:spcAft>
                <a:spcPts val="400"/>
              </a:spcAft>
              <a:buNone/>
            </a:pPr>
            <a:r>
              <a:rPr lang="en-US" sz="1500" dirty="0">
                <a:solidFill>
                  <a:schemeClr val="tx2"/>
                </a:solidFill>
              </a:rPr>
              <a:t>Hesabı kod yapar, AI açıklar. Eşik altında öneri yok; her rakam ve kod satırı doğrulanır.</a:t>
            </a:r>
            <a:endParaRPr lang="en-US" sz="22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indent="0" marL="0">
              <a:buNone/>
            </a:pPr>
            <a:r>
              <a:rPr lang="en-US" sz="3600" b="1" dirty="0">
                <a:solidFill>
                  <a:schemeClr val="tx1"/>
                </a:solidFill>
              </a:rPr>
              <a:t>Mimari: Azure üzerinde uçtan uca</a:t>
            </a:r>
            <a:endParaRPr lang="en-US" sz="3600" dirty="0"/>
          </a:p>
        </p:txBody>
      </p:sp>
      <p:sp>
        <p:nvSpPr>
          <p:cNvPr id="3" name="arch-users"/>
          <p:cNvSpPr/>
          <p:nvPr/>
        </p:nvSpPr>
        <p:spPr>
          <a:xfrm>
            <a:off x="548640" y="2148840"/>
            <a:ext cx="1737360" cy="2377440"/>
          </a:xfrm>
          <a:prstGeom prst="roundRect">
            <a:avLst>
              <a:gd name="adj" fmla="val 6316"/>
            </a:avLst>
          </a:prstGeom>
          <a:solidFill>
            <a:schemeClr val="bg2"/>
          </a:solidFill>
          <a:ln w="12700">
            <a:solidFill>
              <a:schemeClr val="accent5"/>
            </a:solidFill>
            <a:prstDash val="solid"/>
          </a:ln>
        </p:spPr>
      </p:sp>
      <p:sp>
        <p:nvSpPr>
          <p:cNvPr id="4" name="Text 2"/>
          <p:cNvSpPr txBox="1"/>
          <p:nvPr/>
        </p:nvSpPr>
        <p:spPr>
          <a:xfrm>
            <a:off x="658368" y="2221992"/>
            <a:ext cx="1517904" cy="2231136"/>
          </a:xfrm>
          <a:prstGeom prst="rect">
            <a:avLst/>
          </a:prstGeom>
          <a:noFill/>
          <a:ln/>
        </p:spPr>
        <p:txBody>
          <a:bodyPr wrap="square" lIns="0" tIns="0" rIns="0" bIns="0" rtlCol="0" anchor="ctr"/>
          <a:lstStyle/>
          <a:p>
            <a:pPr algn="ctr" indent="0" marL="0">
              <a:buNone/>
            </a:pPr>
            <a:r>
              <a:rPr lang="en-US" sz="1500" b="1" dirty="0">
                <a:solidFill>
                  <a:schemeClr val="tx1"/>
                </a:solidFill>
              </a:rPr>
              <a:t>Kullanıcılar</a:t>
            </a:r>
            <a:endParaRPr lang="en-US" sz="1500" dirty="0"/>
          </a:p>
          <a:p>
            <a:pPr algn="ctr" indent="0" marL="0">
              <a:buNone/>
            </a:pPr>
            <a:r>
              <a:rPr lang="en-US" sz="1200" dirty="0">
                <a:solidFill>
                  <a:schemeClr val="tx1"/>
                </a:solidFill>
              </a:rPr>
              <a:t>Şube, çağrı merkezi</a:t>
            </a:r>
            <a:endParaRPr lang="en-US" sz="1500" dirty="0"/>
          </a:p>
          <a:p>
            <a:pPr algn="ctr" indent="0" marL="0">
              <a:buNone/>
            </a:pPr>
            <a:r>
              <a:rPr lang="en-US" sz="1200" dirty="0">
                <a:solidFill>
                  <a:schemeClr val="tx1"/>
                </a:solidFill>
              </a:rPr>
              <a:t>L2 destek</a:t>
            </a:r>
            <a:endParaRPr lang="en-US" sz="1500" dirty="0"/>
          </a:p>
          <a:p>
            <a:pPr algn="ctr" indent="0" marL="0">
              <a:buNone/>
            </a:pPr>
            <a:r>
              <a:rPr lang="en-US" sz="1200" dirty="0">
                <a:solidFill>
                  <a:schemeClr val="tx1"/>
                </a:solidFill>
              </a:rPr>
              <a:t>İş birimi, analist</a:t>
            </a:r>
            <a:endParaRPr lang="en-US" sz="1500" dirty="0"/>
          </a:p>
        </p:txBody>
      </p:sp>
      <p:sp>
        <p:nvSpPr>
          <p:cNvPr id="5" name="arch-web"/>
          <p:cNvSpPr/>
          <p:nvPr/>
        </p:nvSpPr>
        <p:spPr>
          <a:xfrm>
            <a:off x="2743200" y="1325880"/>
            <a:ext cx="2331720" cy="1554480"/>
          </a:xfrm>
          <a:prstGeom prst="roundRect">
            <a:avLst>
              <a:gd name="adj" fmla="val 7059"/>
            </a:avLst>
          </a:prstGeom>
          <a:solidFill>
            <a:schemeClr val="tx2"/>
          </a:solidFill>
          <a:ln w="12700">
            <a:solidFill>
              <a:schemeClr val="tx2"/>
            </a:solidFill>
            <a:prstDash val="solid"/>
          </a:ln>
        </p:spPr>
      </p:sp>
      <p:sp>
        <p:nvSpPr>
          <p:cNvPr id="6" name="Text 4"/>
          <p:cNvSpPr txBox="1"/>
          <p:nvPr/>
        </p:nvSpPr>
        <p:spPr>
          <a:xfrm>
            <a:off x="2852928" y="1399032"/>
            <a:ext cx="2112264" cy="1408176"/>
          </a:xfrm>
          <a:prstGeom prst="rect">
            <a:avLst/>
          </a:prstGeom>
          <a:noFill/>
          <a:ln/>
        </p:spPr>
        <p:txBody>
          <a:bodyPr wrap="square" lIns="0" tIns="0" rIns="0" bIns="0" rtlCol="0" anchor="ctr"/>
          <a:lstStyle/>
          <a:p>
            <a:pPr algn="ctr" indent="0" marL="0">
              <a:buNone/>
            </a:pPr>
            <a:r>
              <a:rPr lang="en-US" sz="1500" b="1" dirty="0">
                <a:solidFill>
                  <a:schemeClr val="bg1"/>
                </a:solidFill>
              </a:rPr>
              <a:t>App Service · web</a:t>
            </a:r>
            <a:endParaRPr lang="en-US" sz="1500" dirty="0"/>
          </a:p>
          <a:p>
            <a:pPr algn="ctr" indent="0" marL="0">
              <a:buNone/>
            </a:pPr>
            <a:r>
              <a:rPr lang="en-US" sz="1200" dirty="0">
                <a:solidFill>
                  <a:schemeClr val="bg1"/>
                </a:solidFill>
              </a:rPr>
              <a:t>Next.js 16</a:t>
            </a:r>
            <a:endParaRPr lang="en-US" sz="1500" dirty="0"/>
          </a:p>
          <a:p>
            <a:pPr algn="ctr" indent="0" marL="0">
              <a:buNone/>
            </a:pPr>
            <a:r>
              <a:rPr lang="en-US" sz="1200" dirty="0">
                <a:solidFill>
                  <a:schemeClr val="bg1"/>
                </a:solidFill>
              </a:rPr>
              <a:t>Bankacılık ekranları,</a:t>
            </a:r>
            <a:endParaRPr lang="en-US" sz="1500" dirty="0"/>
          </a:p>
          <a:p>
            <a:pPr algn="ctr" indent="0" marL="0">
              <a:buNone/>
            </a:pPr>
            <a:r>
              <a:rPr lang="en-US" sz="1200" dirty="0">
                <a:solidFill>
                  <a:schemeClr val="bg1"/>
                </a:solidFill>
              </a:rPr>
              <a:t>Mercek, Talep Yönlendirme</a:t>
            </a:r>
            <a:endParaRPr lang="en-US" sz="1500" dirty="0"/>
          </a:p>
        </p:txBody>
      </p:sp>
      <p:sp>
        <p:nvSpPr>
          <p:cNvPr id="7" name="arch-api"/>
          <p:cNvSpPr/>
          <p:nvPr/>
        </p:nvSpPr>
        <p:spPr>
          <a:xfrm>
            <a:off x="2743200" y="3794760"/>
            <a:ext cx="2331720" cy="1554480"/>
          </a:xfrm>
          <a:prstGeom prst="roundRect">
            <a:avLst>
              <a:gd name="adj" fmla="val 7059"/>
            </a:avLst>
          </a:prstGeom>
          <a:solidFill>
            <a:schemeClr val="tx2"/>
          </a:solidFill>
          <a:ln w="12700">
            <a:solidFill>
              <a:schemeClr val="tx2"/>
            </a:solidFill>
            <a:prstDash val="solid"/>
          </a:ln>
        </p:spPr>
      </p:sp>
      <p:sp>
        <p:nvSpPr>
          <p:cNvPr id="8" name="Text 6"/>
          <p:cNvSpPr txBox="1"/>
          <p:nvPr/>
        </p:nvSpPr>
        <p:spPr>
          <a:xfrm>
            <a:off x="2852928" y="3867912"/>
            <a:ext cx="2112264" cy="1408176"/>
          </a:xfrm>
          <a:prstGeom prst="rect">
            <a:avLst/>
          </a:prstGeom>
          <a:noFill/>
          <a:ln/>
        </p:spPr>
        <p:txBody>
          <a:bodyPr wrap="square" lIns="0" tIns="0" rIns="0" bIns="0" rtlCol="0" anchor="ctr"/>
          <a:lstStyle/>
          <a:p>
            <a:pPr algn="ctr" indent="0" marL="0">
              <a:buNone/>
            </a:pPr>
            <a:r>
              <a:rPr lang="en-US" sz="1500" b="1" dirty="0">
                <a:solidFill>
                  <a:schemeClr val="bg1"/>
                </a:solidFill>
              </a:rPr>
              <a:t>App Service · api</a:t>
            </a:r>
            <a:endParaRPr lang="en-US" sz="1500" dirty="0"/>
          </a:p>
          <a:p>
            <a:pPr algn="ctr" indent="0" marL="0">
              <a:buNone/>
            </a:pPr>
            <a:r>
              <a:rPr lang="en-US" sz="1200" dirty="0">
                <a:solidFill>
                  <a:schemeClr val="bg1"/>
                </a:solidFill>
              </a:rPr>
              <a:t>FastAPI</a:t>
            </a:r>
            <a:endParaRPr lang="en-US" sz="1500" dirty="0"/>
          </a:p>
          <a:p>
            <a:pPr algn="ctr" indent="0" marL="0">
              <a:buNone/>
            </a:pPr>
            <a:r>
              <a:rPr lang="en-US" sz="1200" dirty="0">
                <a:solidFill>
                  <a:schemeClr val="bg1"/>
                </a:solidFill>
              </a:rPr>
              <a:t>/api/health · orkestrasyon,</a:t>
            </a:r>
            <a:endParaRPr lang="en-US" sz="1500" dirty="0"/>
          </a:p>
          <a:p>
            <a:pPr algn="ctr" indent="0" marL="0">
              <a:buNone/>
            </a:pPr>
            <a:r>
              <a:rPr lang="en-US" sz="1200" dirty="0">
                <a:solidFill>
                  <a:schemeClr val="bg1"/>
                </a:solidFill>
              </a:rPr>
              <a:t>hesap ve doğrulama</a:t>
            </a:r>
            <a:endParaRPr lang="en-US" sz="1500" dirty="0"/>
          </a:p>
        </p:txBody>
      </p:sp>
      <p:sp>
        <p:nvSpPr>
          <p:cNvPr id="9" name="arch-foundry"/>
          <p:cNvSpPr/>
          <p:nvPr/>
        </p:nvSpPr>
        <p:spPr>
          <a:xfrm>
            <a:off x="5486400" y="1325880"/>
            <a:ext cx="2514600" cy="1234440"/>
          </a:xfrm>
          <a:prstGeom prst="roundRect">
            <a:avLst>
              <a:gd name="adj" fmla="val 8889"/>
            </a:avLst>
          </a:prstGeom>
          <a:solidFill>
            <a:schemeClr val="bg2"/>
          </a:solidFill>
          <a:ln w="12700">
            <a:solidFill>
              <a:schemeClr val="accent5"/>
            </a:solidFill>
            <a:prstDash val="solid"/>
          </a:ln>
        </p:spPr>
      </p:sp>
      <p:sp>
        <p:nvSpPr>
          <p:cNvPr id="10" name="Text 8"/>
          <p:cNvSpPr txBox="1"/>
          <p:nvPr/>
        </p:nvSpPr>
        <p:spPr>
          <a:xfrm>
            <a:off x="5596128" y="1399032"/>
            <a:ext cx="2295144" cy="1088136"/>
          </a:xfrm>
          <a:prstGeom prst="rect">
            <a:avLst/>
          </a:prstGeom>
          <a:noFill/>
          <a:ln/>
        </p:spPr>
        <p:txBody>
          <a:bodyPr wrap="square" lIns="0" tIns="0" rIns="0" bIns="0" rtlCol="0" anchor="ctr"/>
          <a:lstStyle/>
          <a:p>
            <a:pPr algn="ctr" indent="0" marL="0">
              <a:buNone/>
            </a:pPr>
            <a:r>
              <a:rPr lang="en-US" sz="1500" b="1" dirty="0">
                <a:solidFill>
                  <a:schemeClr val="tx1"/>
                </a:solidFill>
              </a:rPr>
              <a:t>Azure AI Foundry</a:t>
            </a:r>
            <a:endParaRPr lang="en-US" sz="1500" dirty="0"/>
          </a:p>
          <a:p>
            <a:pPr algn="ctr" indent="0" marL="0">
              <a:buNone/>
            </a:pPr>
            <a:r>
              <a:rPr lang="en-US" sz="1200" dirty="0">
                <a:solidFill>
                  <a:schemeClr val="tx1"/>
                </a:solidFill>
              </a:rPr>
              <a:t>chat + embedding modeli</a:t>
            </a:r>
            <a:endParaRPr lang="en-US" sz="1500" dirty="0"/>
          </a:p>
        </p:txBody>
      </p:sp>
      <p:sp>
        <p:nvSpPr>
          <p:cNvPr id="11" name="arch-sql"/>
          <p:cNvSpPr/>
          <p:nvPr/>
        </p:nvSpPr>
        <p:spPr>
          <a:xfrm>
            <a:off x="5486400" y="2715768"/>
            <a:ext cx="2514600" cy="1234440"/>
          </a:xfrm>
          <a:prstGeom prst="roundRect">
            <a:avLst>
              <a:gd name="adj" fmla="val 8889"/>
            </a:avLst>
          </a:prstGeom>
          <a:solidFill>
            <a:schemeClr val="bg2"/>
          </a:solidFill>
          <a:ln w="12700">
            <a:solidFill>
              <a:schemeClr val="accent5"/>
            </a:solidFill>
            <a:prstDash val="solid"/>
          </a:ln>
        </p:spPr>
      </p:sp>
      <p:sp>
        <p:nvSpPr>
          <p:cNvPr id="12" name="Text 10"/>
          <p:cNvSpPr txBox="1"/>
          <p:nvPr/>
        </p:nvSpPr>
        <p:spPr>
          <a:xfrm>
            <a:off x="5596128" y="2788920"/>
            <a:ext cx="2295144" cy="1088136"/>
          </a:xfrm>
          <a:prstGeom prst="rect">
            <a:avLst/>
          </a:prstGeom>
          <a:noFill/>
          <a:ln/>
        </p:spPr>
        <p:txBody>
          <a:bodyPr wrap="square" lIns="0" tIns="0" rIns="0" bIns="0" rtlCol="0" anchor="ctr"/>
          <a:lstStyle/>
          <a:p>
            <a:pPr algn="ctr" indent="0" marL="0">
              <a:buNone/>
            </a:pPr>
            <a:r>
              <a:rPr lang="en-US" sz="1500" b="1" dirty="0">
                <a:solidFill>
                  <a:schemeClr val="tx1"/>
                </a:solidFill>
              </a:rPr>
              <a:t>Azure SQL</a:t>
            </a:r>
            <a:endParaRPr lang="en-US" sz="1500" dirty="0"/>
          </a:p>
          <a:p>
            <a:pPr algn="ctr" indent="0" marL="0">
              <a:buNone/>
            </a:pPr>
            <a:r>
              <a:rPr lang="en-US" sz="1200" dirty="0">
                <a:solidFill>
                  <a:schemeClr val="tx1"/>
                </a:solidFill>
              </a:rPr>
              <a:t>Log, katalog, portföy,</a:t>
            </a:r>
            <a:endParaRPr lang="en-US" sz="1500" dirty="0"/>
          </a:p>
          <a:p>
            <a:pPr algn="ctr" indent="0" marL="0">
              <a:buNone/>
            </a:pPr>
            <a:r>
              <a:rPr lang="en-US" sz="1200" dirty="0">
                <a:solidFill>
                  <a:schemeClr val="tx1"/>
                </a:solidFill>
              </a:rPr>
              <a:t>çağrı, talep, takvim</a:t>
            </a:r>
            <a:endParaRPr lang="en-US" sz="1500" dirty="0"/>
          </a:p>
        </p:txBody>
      </p:sp>
      <p:sp>
        <p:nvSpPr>
          <p:cNvPr id="13" name="arch-search"/>
          <p:cNvSpPr/>
          <p:nvPr/>
        </p:nvSpPr>
        <p:spPr>
          <a:xfrm>
            <a:off x="5486400" y="4105656"/>
            <a:ext cx="2514600" cy="1234440"/>
          </a:xfrm>
          <a:prstGeom prst="roundRect">
            <a:avLst>
              <a:gd name="adj" fmla="val 8889"/>
            </a:avLst>
          </a:prstGeom>
          <a:solidFill>
            <a:schemeClr val="bg2"/>
          </a:solidFill>
          <a:ln w="12700">
            <a:solidFill>
              <a:schemeClr val="accent5"/>
            </a:solidFill>
            <a:prstDash val="solid"/>
          </a:ln>
        </p:spPr>
      </p:sp>
      <p:sp>
        <p:nvSpPr>
          <p:cNvPr id="14" name="Text 12"/>
          <p:cNvSpPr txBox="1"/>
          <p:nvPr/>
        </p:nvSpPr>
        <p:spPr>
          <a:xfrm>
            <a:off x="5596128" y="4178808"/>
            <a:ext cx="2295144" cy="1088136"/>
          </a:xfrm>
          <a:prstGeom prst="rect">
            <a:avLst/>
          </a:prstGeom>
          <a:noFill/>
          <a:ln/>
        </p:spPr>
        <p:txBody>
          <a:bodyPr wrap="square" lIns="0" tIns="0" rIns="0" bIns="0" rtlCol="0" anchor="ctr"/>
          <a:lstStyle/>
          <a:p>
            <a:pPr algn="ctr" indent="0" marL="0">
              <a:buNone/>
            </a:pPr>
            <a:r>
              <a:rPr lang="en-US" sz="1500" b="1" dirty="0">
                <a:solidFill>
                  <a:schemeClr val="tx1"/>
                </a:solidFill>
              </a:rPr>
              <a:t>Azure AI Search</a:t>
            </a:r>
            <a:endParaRPr lang="en-US" sz="1500" dirty="0"/>
          </a:p>
          <a:p>
            <a:pPr algn="ctr" indent="0" marL="0">
              <a:buNone/>
            </a:pPr>
            <a:r>
              <a:rPr lang="en-US" sz="1200" dirty="0">
                <a:solidFill>
                  <a:schemeClr val="tx1"/>
                </a:solidFill>
              </a:rPr>
              <a:t>Çözüm, talep, duyuru</a:t>
            </a:r>
            <a:endParaRPr lang="en-US" sz="1500" dirty="0"/>
          </a:p>
          <a:p>
            <a:pPr algn="ctr" indent="0" marL="0">
              <a:buNone/>
            </a:pPr>
            <a:r>
              <a:rPr lang="en-US" sz="1200" dirty="0">
                <a:solidFill>
                  <a:schemeClr val="tx1"/>
                </a:solidFill>
              </a:rPr>
              <a:t>hibrit arama</a:t>
            </a:r>
            <a:endParaRPr lang="en-US" sz="1500" dirty="0"/>
          </a:p>
        </p:txBody>
      </p:sp>
      <p:sp>
        <p:nvSpPr>
          <p:cNvPr id="15" name="arrow-users-web"/>
          <p:cNvSpPr/>
          <p:nvPr/>
        </p:nvSpPr>
        <p:spPr>
          <a:xfrm flipV="1">
            <a:off x="2286000" y="2103120"/>
            <a:ext cx="457200" cy="640080"/>
          </a:xfrm>
          <a:prstGeom prst="line">
            <a:avLst/>
          </a:prstGeom>
          <a:noFill/>
          <a:ln w="25400">
            <a:solidFill>
              <a:schemeClr val="accent5"/>
            </a:solidFill>
            <a:prstDash val="solid"/>
            <a:tailEnd type="triangle"/>
          </a:ln>
        </p:spPr>
      </p:sp>
      <p:sp>
        <p:nvSpPr>
          <p:cNvPr id="16" name="arrow-web-api"/>
          <p:cNvSpPr/>
          <p:nvPr/>
        </p:nvSpPr>
        <p:spPr>
          <a:xfrm>
            <a:off x="3909060" y="2880360"/>
            <a:ext cx="914" cy="914400"/>
          </a:xfrm>
          <a:prstGeom prst="line">
            <a:avLst/>
          </a:prstGeom>
          <a:noFill/>
          <a:ln w="25400">
            <a:solidFill>
              <a:schemeClr val="accent5"/>
            </a:solidFill>
            <a:prstDash val="solid"/>
            <a:tailEnd type="triangle"/>
          </a:ln>
        </p:spPr>
      </p:sp>
      <p:sp>
        <p:nvSpPr>
          <p:cNvPr id="17" name="arrow-api-foundry"/>
          <p:cNvSpPr/>
          <p:nvPr/>
        </p:nvSpPr>
        <p:spPr>
          <a:xfrm flipV="1">
            <a:off x="5074920" y="1938528"/>
            <a:ext cx="411480" cy="2267712"/>
          </a:xfrm>
          <a:prstGeom prst="line">
            <a:avLst/>
          </a:prstGeom>
          <a:noFill/>
          <a:ln w="25400">
            <a:solidFill>
              <a:schemeClr val="accent5"/>
            </a:solidFill>
            <a:prstDash val="solid"/>
            <a:tailEnd type="triangle"/>
          </a:ln>
        </p:spPr>
      </p:sp>
      <p:sp>
        <p:nvSpPr>
          <p:cNvPr id="18" name="arrow-api-sql"/>
          <p:cNvSpPr/>
          <p:nvPr/>
        </p:nvSpPr>
        <p:spPr>
          <a:xfrm flipV="1">
            <a:off x="5074920" y="3328416"/>
            <a:ext cx="411480" cy="1106424"/>
          </a:xfrm>
          <a:prstGeom prst="line">
            <a:avLst/>
          </a:prstGeom>
          <a:noFill/>
          <a:ln w="25400">
            <a:solidFill>
              <a:schemeClr val="accent5"/>
            </a:solidFill>
            <a:prstDash val="solid"/>
            <a:tailEnd type="triangle"/>
          </a:ln>
        </p:spPr>
      </p:sp>
      <p:sp>
        <p:nvSpPr>
          <p:cNvPr id="19" name="arrow-api-search"/>
          <p:cNvSpPr/>
          <p:nvPr/>
        </p:nvSpPr>
        <p:spPr>
          <a:xfrm>
            <a:off x="5074920" y="4663440"/>
            <a:ext cx="411480" cy="54864"/>
          </a:xfrm>
          <a:prstGeom prst="line">
            <a:avLst/>
          </a:prstGeom>
          <a:noFill/>
          <a:ln w="25400">
            <a:solidFill>
              <a:schemeClr val="accent5"/>
            </a:solidFill>
            <a:prstDash val="solid"/>
            <a:tailEnd type="triangle"/>
          </a:ln>
        </p:spPr>
      </p:sp>
      <p:sp>
        <p:nvSpPr>
          <p:cNvPr id="20" name="arch-cicd"/>
          <p:cNvSpPr/>
          <p:nvPr/>
        </p:nvSpPr>
        <p:spPr>
          <a:xfrm>
            <a:off x="548640" y="5532120"/>
            <a:ext cx="7452360" cy="731520"/>
          </a:xfrm>
          <a:prstGeom prst="roundRect">
            <a:avLst>
              <a:gd name="adj" fmla="val 15000"/>
            </a:avLst>
          </a:prstGeom>
          <a:solidFill>
            <a:schemeClr val="bg2"/>
          </a:solidFill>
          <a:ln w="12700">
            <a:solidFill>
              <a:schemeClr val="bg2"/>
            </a:solidFill>
            <a:prstDash val="solid"/>
          </a:ln>
        </p:spPr>
      </p:sp>
      <p:pic>
        <p:nvPicPr>
          <p:cNvPr id="21" name="arch-github" descr="preencoded.png">    </p:cNvPr>
          <p:cNvPicPr>
            <a:picLocks noChangeAspect="1"/>
          </p:cNvPicPr>
          <p:nvPr/>
        </p:nvPicPr>
        <p:blipFill>
          <a:blip r:embed="rId1"/>
          <a:stretch>
            <a:fillRect/>
          </a:stretch>
        </p:blipFill>
        <p:spPr>
          <a:xfrm>
            <a:off x="731520" y="5687568"/>
            <a:ext cx="411480" cy="411480"/>
          </a:xfrm>
          <a:prstGeom prst="rect">
            <a:avLst/>
          </a:prstGeom>
        </p:spPr>
      </p:pic>
      <p:sp>
        <p:nvSpPr>
          <p:cNvPr id="22" name="Text 19"/>
          <p:cNvSpPr txBox="1"/>
          <p:nvPr/>
        </p:nvSpPr>
        <p:spPr>
          <a:xfrm>
            <a:off x="1280160" y="5532120"/>
            <a:ext cx="6629400" cy="731520"/>
          </a:xfrm>
          <a:prstGeom prst="rect">
            <a:avLst/>
          </a:prstGeom>
          <a:noFill/>
          <a:ln/>
        </p:spPr>
        <p:txBody>
          <a:bodyPr wrap="square" lIns="0" tIns="0" rIns="0" bIns="0" rtlCol="0" anchor="ctr"/>
          <a:lstStyle/>
          <a:p>
            <a:pPr indent="0" marL="0">
              <a:buNone/>
            </a:pPr>
            <a:r>
              <a:rPr lang="en-US" sz="1200" b="1" dirty="0">
                <a:solidFill>
                  <a:schemeClr val="tx1"/>
                </a:solidFill>
              </a:rPr>
              <a:t>GitHub Actions: </a:t>
            </a:r>
            <a:pPr indent="0" marL="0">
              <a:buNone/>
            </a:pPr>
            <a:r>
              <a:rPr lang="en-US" sz="1200" dirty="0">
                <a:solidFill>
                  <a:schemeClr val="tx1"/>
                </a:solidFill>
              </a:rPr>
              <a:t>lint · test · audit · gitleaks → build → 2 deploy → smoke test   </a:t>
            </a:r>
            <a:pPr indent="0" marL="0">
              <a:buNone/>
            </a:pPr>
            <a:r>
              <a:rPr lang="en-US" sz="1200" b="1" dirty="0">
                <a:solidFill>
                  <a:schemeClr val="tx1"/>
                </a:solidFill>
              </a:rPr>
              <a:t>GHAS: </a:t>
            </a:r>
            <a:pPr indent="0" marL="0">
              <a:buNone/>
            </a:pPr>
            <a:r>
              <a:rPr lang="en-US" sz="1200" dirty="0">
                <a:solidFill>
                  <a:schemeClr val="tx1"/>
                </a:solidFill>
              </a:rPr>
              <a:t>CodeQL · Dependabot · secret scanning</a:t>
            </a:r>
            <a:endParaRPr lang="en-US" sz="1200" dirty="0"/>
          </a:p>
        </p:txBody>
      </p:sp>
      <p:sp>
        <p:nvSpPr>
          <p:cNvPr id="23" name="ai-card"/>
          <p:cNvSpPr/>
          <p:nvPr/>
        </p:nvSpPr>
        <p:spPr>
          <a:xfrm>
            <a:off x="8321040" y="1371600"/>
            <a:ext cx="3319272" cy="2331720"/>
          </a:xfrm>
          <a:prstGeom prst="roundRect">
            <a:avLst>
              <a:gd name="adj" fmla="val 4706"/>
            </a:avLst>
          </a:prstGeom>
          <a:solidFill>
            <a:schemeClr val="accent2"/>
          </a:solidFill>
          <a:ln w="12700">
            <a:solidFill>
              <a:schemeClr val="accent2"/>
            </a:solidFill>
            <a:prstDash val="solid"/>
          </a:ln>
        </p:spPr>
      </p:sp>
      <p:sp>
        <p:nvSpPr>
          <p:cNvPr id="24" name="Text 21"/>
          <p:cNvSpPr txBox="1"/>
          <p:nvPr/>
        </p:nvSpPr>
        <p:spPr>
          <a:xfrm>
            <a:off x="8503920" y="1463040"/>
            <a:ext cx="3017520" cy="2148840"/>
          </a:xfrm>
          <a:prstGeom prst="rect">
            <a:avLst/>
          </a:prstGeom>
          <a:noFill/>
          <a:ln/>
        </p:spPr>
        <p:txBody>
          <a:bodyPr wrap="square" lIns="0" tIns="0" rIns="0" bIns="0" rtlCol="0" anchor="t"/>
          <a:lstStyle/>
          <a:p>
            <a:pPr indent="0" marL="0">
              <a:spcAft>
                <a:spcPts val="300"/>
              </a:spcAft>
              <a:buNone/>
            </a:pPr>
            <a:r>
              <a:rPr lang="en-US" sz="1600" b="1" dirty="0">
                <a:solidFill>
                  <a:schemeClr val="bg1"/>
                </a:solidFill>
              </a:rPr>
              <a:t>AI ne yapar (Foundry)</a:t>
            </a:r>
            <a:endParaRPr lang="en-US" sz="1600" dirty="0"/>
          </a:p>
          <a:p>
            <a:pPr marL="342900" indent="-342900">
              <a:spcAft>
                <a:spcPts val="300"/>
              </a:spcAft>
              <a:buSzPct val="100000"/>
              <a:buChar char="•"/>
            </a:pPr>
            <a:r>
              <a:rPr lang="en-US" sz="1400" dirty="0">
                <a:solidFill>
                  <a:schemeClr val="bg1"/>
                </a:solidFill>
              </a:rPr>
              <a:t>Metinden bilgi çıkarma, açıklama</a:t>
            </a:r>
            <a:endParaRPr lang="en-US" sz="1600" dirty="0"/>
          </a:p>
          <a:p>
            <a:pPr marL="342900" indent="-342900">
              <a:spcAft>
                <a:spcPts val="300"/>
              </a:spcAft>
              <a:buSzPct val="100000"/>
              <a:buChar char="•"/>
            </a:pPr>
            <a:r>
              <a:rPr lang="en-US" sz="1400" dirty="0">
                <a:solidFill>
                  <a:schemeClr val="bg1"/>
                </a:solidFill>
              </a:rPr>
              <a:t>Çağrı zenginleştirme</a:t>
            </a:r>
            <a:endParaRPr lang="en-US" sz="1600" dirty="0"/>
          </a:p>
          <a:p>
            <a:pPr marL="342900" indent="-342900">
              <a:spcAft>
                <a:spcPts val="300"/>
              </a:spcAft>
              <a:buSzPct val="100000"/>
              <a:buChar char="•"/>
            </a:pPr>
            <a:r>
              <a:rPr lang="en-US" sz="1400" dirty="0">
                <a:solidFill>
                  <a:schemeClr val="bg1"/>
                </a:solidFill>
              </a:rPr>
              <a:t>Çözüm uyarlama</a:t>
            </a:r>
            <a:endParaRPr lang="en-US" sz="1600" dirty="0"/>
          </a:p>
          <a:p>
            <a:pPr marL="342900" indent="-342900">
              <a:spcAft>
                <a:spcPts val="300"/>
              </a:spcAft>
              <a:buSzPct val="100000"/>
              <a:buChar char="•"/>
            </a:pPr>
            <a:r>
              <a:rPr lang="en-US" sz="1400" dirty="0">
                <a:solidFill>
                  <a:schemeClr val="bg1"/>
                </a:solidFill>
              </a:rPr>
              <a:t>Kod analizi</a:t>
            </a:r>
            <a:endParaRPr lang="en-US" sz="1600" dirty="0"/>
          </a:p>
          <a:p>
            <a:pPr marL="342900" indent="-342900">
              <a:spcAft>
                <a:spcPts val="300"/>
              </a:spcAft>
              <a:buSzPct val="100000"/>
              <a:buChar char="•"/>
            </a:pPr>
            <a:r>
              <a:rPr lang="en-US" sz="1400" dirty="0">
                <a:solidFill>
                  <a:schemeClr val="bg1"/>
                </a:solidFill>
              </a:rPr>
              <a:t>Talep bileşenleri ve sorular</a:t>
            </a:r>
            <a:endParaRPr lang="en-US" sz="1600" dirty="0"/>
          </a:p>
        </p:txBody>
      </p:sp>
      <p:sp>
        <p:nvSpPr>
          <p:cNvPr id="25" name="code-card"/>
          <p:cNvSpPr/>
          <p:nvPr/>
        </p:nvSpPr>
        <p:spPr>
          <a:xfrm>
            <a:off x="8321040" y="3886200"/>
            <a:ext cx="3319272" cy="2377440"/>
          </a:xfrm>
          <a:prstGeom prst="roundRect">
            <a:avLst>
              <a:gd name="adj" fmla="val 4615"/>
            </a:avLst>
          </a:prstGeom>
          <a:solidFill>
            <a:schemeClr val="tx2"/>
          </a:solidFill>
          <a:ln w="12700">
            <a:solidFill>
              <a:schemeClr val="tx2"/>
            </a:solidFill>
            <a:prstDash val="solid"/>
          </a:ln>
        </p:spPr>
      </p:sp>
      <p:sp>
        <p:nvSpPr>
          <p:cNvPr id="26" name="Text 23"/>
          <p:cNvSpPr txBox="1"/>
          <p:nvPr/>
        </p:nvSpPr>
        <p:spPr>
          <a:xfrm>
            <a:off x="8503920" y="3977640"/>
            <a:ext cx="3017520" cy="2194560"/>
          </a:xfrm>
          <a:prstGeom prst="rect">
            <a:avLst/>
          </a:prstGeom>
          <a:noFill/>
          <a:ln/>
        </p:spPr>
        <p:txBody>
          <a:bodyPr wrap="square" lIns="0" tIns="0" rIns="0" bIns="0" rtlCol="0" anchor="t"/>
          <a:lstStyle/>
          <a:p>
            <a:pPr indent="0" marL="0">
              <a:spcAft>
                <a:spcPts val="300"/>
              </a:spcAft>
              <a:buNone/>
            </a:pPr>
            <a:r>
              <a:rPr lang="en-US" sz="1600" b="1" dirty="0">
                <a:solidFill>
                  <a:schemeClr val="bg1"/>
                </a:solidFill>
              </a:rPr>
              <a:t>Kod ne yapar (kurallar)</a:t>
            </a:r>
            <a:endParaRPr lang="en-US" sz="1600" dirty="0"/>
          </a:p>
          <a:p>
            <a:pPr marL="342900" indent="-342900">
              <a:spcAft>
                <a:spcPts val="300"/>
              </a:spcAft>
              <a:buSzPct val="100000"/>
              <a:buChar char="•"/>
            </a:pPr>
            <a:r>
              <a:rPr lang="en-US" sz="1400" dirty="0">
                <a:solidFill>
                  <a:schemeClr val="bg1"/>
                </a:solidFill>
              </a:rPr>
              <a:t>Log örüntüsü, kredi hesabı</a:t>
            </a:r>
            <a:endParaRPr lang="en-US" sz="1600" dirty="0"/>
          </a:p>
          <a:p>
            <a:pPr marL="342900" indent="-342900">
              <a:spcAft>
                <a:spcPts val="300"/>
              </a:spcAft>
              <a:buSzPct val="100000"/>
              <a:buChar char="•"/>
            </a:pPr>
            <a:r>
              <a:rPr lang="en-US" sz="1400" dirty="0">
                <a:solidFill>
                  <a:schemeClr val="bg1"/>
                </a:solidFill>
              </a:rPr>
              <a:t>Eşik, servis ataması, ana kayıt</a:t>
            </a:r>
            <a:endParaRPr lang="en-US" sz="1600" dirty="0"/>
          </a:p>
          <a:p>
            <a:pPr marL="342900" indent="-342900">
              <a:spcAft>
                <a:spcPts val="300"/>
              </a:spcAft>
              <a:buSzPct val="100000"/>
              <a:buChar char="•"/>
            </a:pPr>
            <a:r>
              <a:rPr lang="en-US" sz="1400" dirty="0">
                <a:solidFill>
                  <a:schemeClr val="bg1"/>
                </a:solidFill>
              </a:rPr>
              <a:t>Adam-gün medyanı, takvim</a:t>
            </a:r>
            <a:endParaRPr lang="en-US" sz="1600" dirty="0"/>
          </a:p>
          <a:p>
            <a:pPr marL="342900" indent="-342900">
              <a:spcAft>
                <a:spcPts val="300"/>
              </a:spcAft>
              <a:buSzPct val="100000"/>
              <a:buChar char="•"/>
            </a:pPr>
            <a:r>
              <a:rPr lang="en-US" sz="1400" dirty="0">
                <a:solidFill>
                  <a:schemeClr val="bg1"/>
                </a:solidFill>
              </a:rPr>
              <a:t>Köprü sayıları</a:t>
            </a:r>
            <a:endParaRPr lang="en-US" sz="1600" dirty="0"/>
          </a:p>
          <a:p>
            <a:pPr marL="342900" indent="-342900">
              <a:spcAft>
                <a:spcPts val="300"/>
              </a:spcAft>
              <a:buSzPct val="100000"/>
              <a:buChar char="•"/>
            </a:pPr>
            <a:r>
              <a:rPr lang="en-US" sz="1400" dirty="0">
                <a:solidFill>
                  <a:schemeClr val="bg1"/>
                </a:solidFill>
              </a:rPr>
              <a:t>AI çıktısındaki sayı ve satırları doğrulama</a:t>
            </a:r>
            <a:endParaRPr lang="en-US" sz="16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indent="0" marL="0">
              <a:buNone/>
            </a:pPr>
            <a:r>
              <a:rPr lang="en-US" sz="3600" b="1" dirty="0">
                <a:solidFill>
                  <a:schemeClr val="tx1"/>
                </a:solidFill>
              </a:rPr>
              <a:t>Altı kullanım senaryosu</a:t>
            </a:r>
            <a:endParaRPr lang="en-US" sz="3600" dirty="0"/>
          </a:p>
        </p:txBody>
      </p:sp>
      <p:sp>
        <p:nvSpPr>
          <p:cNvPr id="3" name="scen-card-A"/>
          <p:cNvSpPr/>
          <p:nvPr/>
        </p:nvSpPr>
        <p:spPr>
          <a:xfrm>
            <a:off x="548640" y="1325880"/>
            <a:ext cx="3520440" cy="2331720"/>
          </a:xfrm>
          <a:prstGeom prst="roundRect">
            <a:avLst>
              <a:gd name="adj" fmla="val 4706"/>
            </a:avLst>
          </a:prstGeom>
          <a:solidFill>
            <a:schemeClr val="bg2"/>
          </a:solidFill>
          <a:ln w="12700">
            <a:solidFill>
              <a:schemeClr val="bg2"/>
            </a:solidFill>
            <a:prstDash val="solid"/>
          </a:ln>
        </p:spPr>
      </p:sp>
      <p:sp>
        <p:nvSpPr>
          <p:cNvPr id="4" name="scen-letter-A"/>
          <p:cNvSpPr/>
          <p:nvPr/>
        </p:nvSpPr>
        <p:spPr>
          <a:xfrm>
            <a:off x="777240" y="1554480"/>
            <a:ext cx="548640" cy="548640"/>
          </a:xfrm>
          <a:prstGeom prst="ellipse">
            <a:avLst/>
          </a:prstGeom>
          <a:solidFill>
            <a:schemeClr val="accent1"/>
          </a:solidFill>
          <a:ln w="12700">
            <a:solidFill>
              <a:schemeClr val="accent1"/>
            </a:solidFill>
            <a:prstDash val="solid"/>
          </a:ln>
        </p:spPr>
      </p:sp>
      <p:sp>
        <p:nvSpPr>
          <p:cNvPr id="5" name="Text 3"/>
          <p:cNvSpPr txBox="1"/>
          <p:nvPr/>
        </p:nvSpPr>
        <p:spPr>
          <a:xfrm>
            <a:off x="777240" y="15544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a:t>
            </a:r>
            <a:endParaRPr lang="en-US" sz="2000" dirty="0"/>
          </a:p>
        </p:txBody>
      </p:sp>
      <p:sp>
        <p:nvSpPr>
          <p:cNvPr id="6" name="Text 4"/>
          <p:cNvSpPr txBox="1"/>
          <p:nvPr/>
        </p:nvSpPr>
        <p:spPr>
          <a:xfrm>
            <a:off x="1463040" y="1508760"/>
            <a:ext cx="2468880" cy="685800"/>
          </a:xfrm>
          <a:prstGeom prst="rect">
            <a:avLst/>
          </a:prstGeom>
          <a:noFill/>
          <a:ln/>
        </p:spPr>
        <p:txBody>
          <a:bodyPr wrap="square" lIns="0" tIns="0" rIns="0" bIns="0" rtlCol="0" anchor="ctr"/>
          <a:lstStyle/>
          <a:p>
            <a:pPr indent="0" marL="0">
              <a:buNone/>
            </a:pPr>
            <a:r>
              <a:rPr lang="en-US" sz="1600" b="1" dirty="0">
                <a:solidFill>
                  <a:schemeClr val="tx1"/>
                </a:solidFill>
              </a:rPr>
              <a:t>Hata mı, kural mı?</a:t>
            </a:r>
            <a:endParaRPr lang="en-US" sz="1600" dirty="0"/>
          </a:p>
          <a:p>
            <a:pPr indent="0" marL="0">
              <a:buNone/>
            </a:pPr>
            <a:r>
              <a:rPr lang="en-US" sz="1100" dirty="0">
                <a:solidFill>
                  <a:schemeClr val="accent5"/>
                </a:solidFill>
              </a:rPr>
              <a:t>KRDTKULL · Elif (şube)</a:t>
            </a:r>
            <a:endParaRPr lang="en-US" sz="1600" dirty="0"/>
          </a:p>
        </p:txBody>
      </p:sp>
      <p:sp>
        <p:nvSpPr>
          <p:cNvPr id="7" name="Text 5"/>
          <p:cNvSpPr txBox="1"/>
          <p:nvPr/>
        </p:nvSpPr>
        <p:spPr>
          <a:xfrm>
            <a:off x="777240" y="2286000"/>
            <a:ext cx="3063240" cy="594360"/>
          </a:xfrm>
          <a:prstGeom prst="rect">
            <a:avLst/>
          </a:prstGeom>
          <a:noFill/>
          <a:ln/>
        </p:spPr>
        <p:txBody>
          <a:bodyPr wrap="square" lIns="0" tIns="0" rIns="0" bIns="0" rtlCol="0" anchor="t"/>
          <a:lstStyle/>
          <a:p>
            <a:pPr indent="0" marL="0">
              <a:buNone/>
            </a:pPr>
            <a:r>
              <a:rPr lang="en-US" sz="1300" dirty="0">
                <a:solidFill>
                  <a:schemeClr val="tx2"/>
                </a:solidFill>
              </a:rPr>
              <a:t>İş kuralı açıklandı, uygun tutar ekrana dolduruldu</a:t>
            </a:r>
            <a:endParaRPr lang="en-US" sz="1300" dirty="0"/>
          </a:p>
        </p:txBody>
      </p:sp>
      <p:sp>
        <p:nvSpPr>
          <p:cNvPr id="8" name="Text 6"/>
          <p:cNvSpPr txBox="1"/>
          <p:nvPr/>
        </p:nvSpPr>
        <p:spPr>
          <a:xfrm>
            <a:off x="777240" y="2926080"/>
            <a:ext cx="2103120" cy="502920"/>
          </a:xfrm>
          <a:prstGeom prst="rect">
            <a:avLst/>
          </a:prstGeom>
          <a:noFill/>
          <a:ln/>
        </p:spPr>
        <p:txBody>
          <a:bodyPr wrap="square" lIns="0" tIns="0" rIns="0" bIns="0" rtlCol="0" anchor="ctr"/>
          <a:lstStyle/>
          <a:p>
            <a:pPr indent="0" marL="0">
              <a:buNone/>
            </a:pPr>
            <a:r>
              <a:rPr lang="en-US" sz="1300" b="1" dirty="0">
                <a:solidFill>
                  <a:schemeClr val="tx1"/>
                </a:solidFill>
              </a:rPr>
              <a:t>Çağrı açılmadı</a:t>
            </a:r>
            <a:endParaRPr lang="en-US" sz="1300" dirty="0"/>
          </a:p>
        </p:txBody>
      </p:sp>
      <p:sp>
        <p:nvSpPr>
          <p:cNvPr id="9" name="scen-status-A"/>
          <p:cNvSpPr/>
          <p:nvPr/>
        </p:nvSpPr>
        <p:spPr>
          <a:xfrm>
            <a:off x="2880360" y="3017520"/>
            <a:ext cx="1005840" cy="329184"/>
          </a:xfrm>
          <a:prstGeom prst="roundRect">
            <a:avLst>
              <a:gd name="adj" fmla="val 50000"/>
            </a:avLst>
          </a:prstGeom>
          <a:solidFill>
            <a:schemeClr val="accent2"/>
          </a:solidFill>
          <a:ln w="12700">
            <a:solidFill>
              <a:schemeClr val="accent2"/>
            </a:solidFill>
            <a:prstDash val="solid"/>
          </a:ln>
        </p:spPr>
      </p:sp>
      <p:sp>
        <p:nvSpPr>
          <p:cNvPr id="10" name="Text 8"/>
          <p:cNvSpPr txBox="1"/>
          <p:nvPr/>
        </p:nvSpPr>
        <p:spPr>
          <a:xfrm>
            <a:off x="2880360" y="301752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CANLI</a:t>
            </a:r>
            <a:endParaRPr lang="en-US" sz="1100" dirty="0"/>
          </a:p>
        </p:txBody>
      </p:sp>
      <p:sp>
        <p:nvSpPr>
          <p:cNvPr id="11" name="scen-card-B"/>
          <p:cNvSpPr/>
          <p:nvPr/>
        </p:nvSpPr>
        <p:spPr>
          <a:xfrm>
            <a:off x="4297680" y="1325880"/>
            <a:ext cx="3520440" cy="2331720"/>
          </a:xfrm>
          <a:prstGeom prst="roundRect">
            <a:avLst>
              <a:gd name="adj" fmla="val 4706"/>
            </a:avLst>
          </a:prstGeom>
          <a:solidFill>
            <a:schemeClr val="bg2"/>
          </a:solidFill>
          <a:ln w="12700">
            <a:solidFill>
              <a:schemeClr val="bg2"/>
            </a:solidFill>
            <a:prstDash val="solid"/>
          </a:ln>
        </p:spPr>
      </p:sp>
      <p:sp>
        <p:nvSpPr>
          <p:cNvPr id="12" name="scen-letter-B"/>
          <p:cNvSpPr/>
          <p:nvPr/>
        </p:nvSpPr>
        <p:spPr>
          <a:xfrm>
            <a:off x="4526280" y="1554480"/>
            <a:ext cx="548640" cy="548640"/>
          </a:xfrm>
          <a:prstGeom prst="ellipse">
            <a:avLst/>
          </a:prstGeom>
          <a:solidFill>
            <a:schemeClr val="accent2"/>
          </a:solidFill>
          <a:ln w="12700">
            <a:solidFill>
              <a:schemeClr val="accent2"/>
            </a:solidFill>
            <a:prstDash val="solid"/>
          </a:ln>
        </p:spPr>
      </p:sp>
      <p:sp>
        <p:nvSpPr>
          <p:cNvPr id="13" name="Text 11"/>
          <p:cNvSpPr txBox="1"/>
          <p:nvPr/>
        </p:nvSpPr>
        <p:spPr>
          <a:xfrm>
            <a:off x="4526280" y="15544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B</a:t>
            </a:r>
            <a:endParaRPr lang="en-US" sz="2000" dirty="0"/>
          </a:p>
        </p:txBody>
      </p:sp>
      <p:sp>
        <p:nvSpPr>
          <p:cNvPr id="14" name="Text 12"/>
          <p:cNvSpPr txBox="1"/>
          <p:nvPr/>
        </p:nvSpPr>
        <p:spPr>
          <a:xfrm>
            <a:off x="5212080" y="1508760"/>
            <a:ext cx="2468880" cy="685800"/>
          </a:xfrm>
          <a:prstGeom prst="rect">
            <a:avLst/>
          </a:prstGeom>
          <a:noFill/>
          <a:ln/>
        </p:spPr>
        <p:txBody>
          <a:bodyPr wrap="square" lIns="0" tIns="0" rIns="0" bIns="0" rtlCol="0" anchor="ctr"/>
          <a:lstStyle/>
          <a:p>
            <a:pPr indent="0" marL="0">
              <a:buNone/>
            </a:pPr>
            <a:r>
              <a:rPr lang="en-US" sz="1600" b="1" dirty="0">
                <a:solidFill>
                  <a:schemeClr val="tx1"/>
                </a:solidFill>
              </a:rPr>
              <a:t>Yaygın sorun, bilinen çözüm</a:t>
            </a:r>
            <a:endParaRPr lang="en-US" sz="1600" dirty="0"/>
          </a:p>
          <a:p>
            <a:pPr indent="0" marL="0">
              <a:buNone/>
            </a:pPr>
            <a:r>
              <a:rPr lang="en-US" sz="1100" dirty="0">
                <a:solidFill>
                  <a:schemeClr val="accent5"/>
                </a:solidFill>
              </a:rPr>
              <a:t>ODMTFATR · Mehmet → Zeynep → Kerem</a:t>
            </a:r>
            <a:endParaRPr lang="en-US" sz="1600" dirty="0"/>
          </a:p>
        </p:txBody>
      </p:sp>
      <p:sp>
        <p:nvSpPr>
          <p:cNvPr id="15" name="Text 13"/>
          <p:cNvSpPr txBox="1"/>
          <p:nvPr/>
        </p:nvSpPr>
        <p:spPr>
          <a:xfrm>
            <a:off x="4526280" y="2286000"/>
            <a:ext cx="3063240" cy="594360"/>
          </a:xfrm>
          <a:prstGeom prst="rect">
            <a:avLst/>
          </a:prstGeom>
          <a:noFill/>
          <a:ln/>
        </p:spPr>
        <p:txBody>
          <a:bodyPr wrap="square" lIns="0" tIns="0" rIns="0" bIns="0" rtlCol="0" anchor="t"/>
          <a:lstStyle/>
          <a:p>
            <a:pPr indent="0" marL="0">
              <a:buNone/>
            </a:pPr>
            <a:r>
              <a:rPr lang="en-US" sz="1300" dirty="0">
                <a:solidFill>
                  <a:schemeClr val="tx2"/>
                </a:solidFill>
              </a:rPr>
              <a:t>Müşteriye hazır açıklama, %93 eşleşen çözüm</a:t>
            </a:r>
            <a:endParaRPr lang="en-US" sz="1300" dirty="0"/>
          </a:p>
        </p:txBody>
      </p:sp>
      <p:sp>
        <p:nvSpPr>
          <p:cNvPr id="16" name="Text 14"/>
          <p:cNvSpPr txBox="1"/>
          <p:nvPr/>
        </p:nvSpPr>
        <p:spPr>
          <a:xfrm>
            <a:off x="4526280" y="2926080"/>
            <a:ext cx="2103120" cy="502920"/>
          </a:xfrm>
          <a:prstGeom prst="rect">
            <a:avLst/>
          </a:prstGeom>
          <a:noFill/>
          <a:ln/>
        </p:spPr>
        <p:txBody>
          <a:bodyPr wrap="square" lIns="0" tIns="0" rIns="0" bIns="0" rtlCol="0" anchor="ctr"/>
          <a:lstStyle/>
          <a:p>
            <a:pPr indent="0" marL="0">
              <a:buNone/>
            </a:pPr>
            <a:r>
              <a:rPr lang="en-US" sz="1300" b="1" dirty="0">
                <a:solidFill>
                  <a:schemeClr val="tx1"/>
                </a:solidFill>
              </a:rPr>
              <a:t>Onlarca arama tek kayıtta</a:t>
            </a:r>
            <a:endParaRPr lang="en-US" sz="1300" dirty="0"/>
          </a:p>
        </p:txBody>
      </p:sp>
      <p:sp>
        <p:nvSpPr>
          <p:cNvPr id="17" name="scen-status-B"/>
          <p:cNvSpPr/>
          <p:nvPr/>
        </p:nvSpPr>
        <p:spPr>
          <a:xfrm>
            <a:off x="6629400" y="3017520"/>
            <a:ext cx="1005840" cy="329184"/>
          </a:xfrm>
          <a:prstGeom prst="roundRect">
            <a:avLst>
              <a:gd name="adj" fmla="val 50000"/>
            </a:avLst>
          </a:prstGeom>
          <a:solidFill>
            <a:schemeClr val="accent2"/>
          </a:solidFill>
          <a:ln w="12700">
            <a:solidFill>
              <a:schemeClr val="accent2"/>
            </a:solidFill>
            <a:prstDash val="solid"/>
          </a:ln>
        </p:spPr>
      </p:sp>
      <p:sp>
        <p:nvSpPr>
          <p:cNvPr id="18" name="Text 16"/>
          <p:cNvSpPr txBox="1"/>
          <p:nvPr/>
        </p:nvSpPr>
        <p:spPr>
          <a:xfrm>
            <a:off x="6629400" y="301752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CANLI</a:t>
            </a:r>
            <a:endParaRPr lang="en-US" sz="1100" dirty="0"/>
          </a:p>
        </p:txBody>
      </p:sp>
      <p:sp>
        <p:nvSpPr>
          <p:cNvPr id="19" name="scen-card-C"/>
          <p:cNvSpPr/>
          <p:nvPr/>
        </p:nvSpPr>
        <p:spPr>
          <a:xfrm>
            <a:off x="8046720" y="1325880"/>
            <a:ext cx="3520440" cy="2331720"/>
          </a:xfrm>
          <a:prstGeom prst="roundRect">
            <a:avLst>
              <a:gd name="adj" fmla="val 4706"/>
            </a:avLst>
          </a:prstGeom>
          <a:solidFill>
            <a:schemeClr val="bg2"/>
          </a:solidFill>
          <a:ln w="12700">
            <a:solidFill>
              <a:schemeClr val="bg2"/>
            </a:solidFill>
            <a:prstDash val="solid"/>
          </a:ln>
        </p:spPr>
      </p:sp>
      <p:sp>
        <p:nvSpPr>
          <p:cNvPr id="20" name="scen-letter-C"/>
          <p:cNvSpPr/>
          <p:nvPr/>
        </p:nvSpPr>
        <p:spPr>
          <a:xfrm>
            <a:off x="8275320" y="1554480"/>
            <a:ext cx="548640" cy="548640"/>
          </a:xfrm>
          <a:prstGeom prst="ellipse">
            <a:avLst/>
          </a:prstGeom>
          <a:solidFill>
            <a:schemeClr val="accent3"/>
          </a:solidFill>
          <a:ln w="12700">
            <a:solidFill>
              <a:schemeClr val="accent3"/>
            </a:solidFill>
            <a:prstDash val="solid"/>
          </a:ln>
        </p:spPr>
      </p:sp>
      <p:sp>
        <p:nvSpPr>
          <p:cNvPr id="21" name="Text 19"/>
          <p:cNvSpPr txBox="1"/>
          <p:nvPr/>
        </p:nvSpPr>
        <p:spPr>
          <a:xfrm>
            <a:off x="8275320" y="15544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C</a:t>
            </a:r>
            <a:endParaRPr lang="en-US" sz="2000" dirty="0"/>
          </a:p>
        </p:txBody>
      </p:sp>
      <p:sp>
        <p:nvSpPr>
          <p:cNvPr id="22" name="Text 20"/>
          <p:cNvSpPr txBox="1"/>
          <p:nvPr/>
        </p:nvSpPr>
        <p:spPr>
          <a:xfrm>
            <a:off x="8961120" y="1508760"/>
            <a:ext cx="2468880" cy="685800"/>
          </a:xfrm>
          <a:prstGeom prst="rect">
            <a:avLst/>
          </a:prstGeom>
          <a:noFill/>
          <a:ln/>
        </p:spPr>
        <p:txBody>
          <a:bodyPr wrap="square" lIns="0" tIns="0" rIns="0" bIns="0" rtlCol="0" anchor="ctr"/>
          <a:lstStyle/>
          <a:p>
            <a:pPr indent="0" marL="0">
              <a:buNone/>
            </a:pPr>
            <a:r>
              <a:rPr lang="en-US" sz="1600" b="1" dirty="0">
                <a:solidFill>
                  <a:schemeClr val="tx1"/>
                </a:solidFill>
              </a:rPr>
              <a:t>Dış dünya değişti</a:t>
            </a:r>
            <a:endParaRPr lang="en-US" sz="1600" dirty="0"/>
          </a:p>
          <a:p>
            <a:pPr indent="0" marL="0">
              <a:buNone/>
            </a:pPr>
            <a:r>
              <a:rPr lang="en-US" sz="1100" dirty="0">
                <a:solidFill>
                  <a:schemeClr val="accent5"/>
                </a:solidFill>
              </a:rPr>
              <a:t>ODMTFATR · Elif → Kerem</a:t>
            </a:r>
            <a:endParaRPr lang="en-US" sz="1600" dirty="0"/>
          </a:p>
        </p:txBody>
      </p:sp>
      <p:sp>
        <p:nvSpPr>
          <p:cNvPr id="23" name="Text 21"/>
          <p:cNvSpPr txBox="1"/>
          <p:nvPr/>
        </p:nvSpPr>
        <p:spPr>
          <a:xfrm>
            <a:off x="8275320" y="2286000"/>
            <a:ext cx="3063240" cy="594360"/>
          </a:xfrm>
          <a:prstGeom prst="rect">
            <a:avLst/>
          </a:prstGeom>
          <a:noFill/>
          <a:ln/>
        </p:spPr>
        <p:txBody>
          <a:bodyPr wrap="square" lIns="0" tIns="0" rIns="0" bIns="0" rtlCol="0" anchor="t"/>
          <a:lstStyle/>
          <a:p>
            <a:pPr indent="0" marL="0">
              <a:buNone/>
            </a:pPr>
            <a:r>
              <a:rPr lang="en-US" sz="1300" dirty="0">
                <a:solidFill>
                  <a:schemeClr val="tx2"/>
                </a:solidFill>
              </a:rPr>
              <a:t>Log + kurum duyurusu + kod; düzeltme önerisi</a:t>
            </a:r>
            <a:endParaRPr lang="en-US" sz="1300" dirty="0"/>
          </a:p>
        </p:txBody>
      </p:sp>
      <p:sp>
        <p:nvSpPr>
          <p:cNvPr id="24" name="Text 22"/>
          <p:cNvSpPr txBox="1"/>
          <p:nvPr/>
        </p:nvSpPr>
        <p:spPr>
          <a:xfrm>
            <a:off x="8275320" y="2926080"/>
            <a:ext cx="2103120" cy="502920"/>
          </a:xfrm>
          <a:prstGeom prst="rect">
            <a:avLst/>
          </a:prstGeom>
          <a:noFill/>
          <a:ln/>
        </p:spPr>
        <p:txBody>
          <a:bodyPr wrap="square" lIns="0" tIns="0" rIns="0" bIns="0" rtlCol="0" anchor="ctr"/>
          <a:lstStyle/>
          <a:p>
            <a:pPr indent="0" marL="0">
              <a:buNone/>
            </a:pPr>
            <a:r>
              <a:rPr lang="en-US" sz="1300" b="1" dirty="0">
                <a:solidFill>
                  <a:schemeClr val="tx1"/>
                </a:solidFill>
              </a:rPr>
              <a:t>187 müşteri · ASKİ önceden</a:t>
            </a:r>
            <a:endParaRPr lang="en-US" sz="1300" dirty="0"/>
          </a:p>
        </p:txBody>
      </p:sp>
      <p:sp>
        <p:nvSpPr>
          <p:cNvPr id="25" name="scen-status-C"/>
          <p:cNvSpPr/>
          <p:nvPr/>
        </p:nvSpPr>
        <p:spPr>
          <a:xfrm>
            <a:off x="10378440" y="3017520"/>
            <a:ext cx="1005840" cy="329184"/>
          </a:xfrm>
          <a:prstGeom prst="roundRect">
            <a:avLst>
              <a:gd name="adj" fmla="val 50000"/>
            </a:avLst>
          </a:prstGeom>
          <a:solidFill>
            <a:schemeClr val="accent2"/>
          </a:solidFill>
          <a:ln w="12700">
            <a:solidFill>
              <a:schemeClr val="accent2"/>
            </a:solidFill>
            <a:prstDash val="solid"/>
          </a:ln>
        </p:spPr>
      </p:sp>
      <p:sp>
        <p:nvSpPr>
          <p:cNvPr id="26" name="Text 24"/>
          <p:cNvSpPr txBox="1"/>
          <p:nvPr/>
        </p:nvSpPr>
        <p:spPr>
          <a:xfrm>
            <a:off x="10378440" y="301752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CANLI</a:t>
            </a:r>
            <a:endParaRPr lang="en-US" sz="1100" dirty="0"/>
          </a:p>
        </p:txBody>
      </p:sp>
      <p:sp>
        <p:nvSpPr>
          <p:cNvPr id="27" name="scen-card-D"/>
          <p:cNvSpPr/>
          <p:nvPr/>
        </p:nvSpPr>
        <p:spPr>
          <a:xfrm>
            <a:off x="548640" y="3840480"/>
            <a:ext cx="3520440" cy="2331720"/>
          </a:xfrm>
          <a:prstGeom prst="roundRect">
            <a:avLst>
              <a:gd name="adj" fmla="val 4706"/>
            </a:avLst>
          </a:prstGeom>
          <a:solidFill>
            <a:schemeClr val="bg2"/>
          </a:solidFill>
          <a:ln w="12700">
            <a:solidFill>
              <a:schemeClr val="bg2"/>
            </a:solidFill>
            <a:prstDash val="solid"/>
          </a:ln>
        </p:spPr>
      </p:sp>
      <p:sp>
        <p:nvSpPr>
          <p:cNvPr id="28" name="scen-letter-D"/>
          <p:cNvSpPr/>
          <p:nvPr/>
        </p:nvSpPr>
        <p:spPr>
          <a:xfrm>
            <a:off x="777240" y="4069080"/>
            <a:ext cx="548640" cy="548640"/>
          </a:xfrm>
          <a:prstGeom prst="ellipse">
            <a:avLst/>
          </a:prstGeom>
          <a:solidFill>
            <a:schemeClr val="tx2"/>
          </a:solidFill>
          <a:ln w="12700">
            <a:solidFill>
              <a:schemeClr val="tx2"/>
            </a:solidFill>
            <a:prstDash val="solid"/>
          </a:ln>
        </p:spPr>
      </p:sp>
      <p:sp>
        <p:nvSpPr>
          <p:cNvPr id="29" name="Text 27"/>
          <p:cNvSpPr txBox="1"/>
          <p:nvPr/>
        </p:nvSpPr>
        <p:spPr>
          <a:xfrm>
            <a:off x="777240" y="40690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D</a:t>
            </a:r>
            <a:endParaRPr lang="en-US" sz="2000" dirty="0"/>
          </a:p>
        </p:txBody>
      </p:sp>
      <p:sp>
        <p:nvSpPr>
          <p:cNvPr id="30" name="Text 28"/>
          <p:cNvSpPr txBox="1"/>
          <p:nvPr/>
        </p:nvSpPr>
        <p:spPr>
          <a:xfrm>
            <a:off x="1463040" y="4023360"/>
            <a:ext cx="2468880" cy="685800"/>
          </a:xfrm>
          <a:prstGeom prst="rect">
            <a:avLst/>
          </a:prstGeom>
          <a:noFill/>
          <a:ln/>
        </p:spPr>
        <p:txBody>
          <a:bodyPr wrap="square" lIns="0" tIns="0" rIns="0" bIns="0" rtlCol="0" anchor="ctr"/>
          <a:lstStyle/>
          <a:p>
            <a:pPr indent="0" marL="0">
              <a:buNone/>
            </a:pPr>
            <a:r>
              <a:rPr lang="en-US" sz="1600" b="1" dirty="0">
                <a:solidFill>
                  <a:schemeClr val="tx1"/>
                </a:solidFill>
              </a:rPr>
              <a:t>Talepten plana</a:t>
            </a:r>
            <a:endParaRPr lang="en-US" sz="1600" dirty="0"/>
          </a:p>
          <a:p>
            <a:pPr indent="0" marL="0">
              <a:buNone/>
            </a:pPr>
            <a:r>
              <a:rPr lang="en-US" sz="1100" dirty="0">
                <a:solidFill>
                  <a:schemeClr val="accent5"/>
                </a:solidFill>
              </a:rPr>
              <a:t>Talep Yönlendirme · Fatma → Ayşe</a:t>
            </a:r>
            <a:endParaRPr lang="en-US" sz="1600" dirty="0"/>
          </a:p>
        </p:txBody>
      </p:sp>
      <p:sp>
        <p:nvSpPr>
          <p:cNvPr id="31" name="Text 29"/>
          <p:cNvSpPr txBox="1"/>
          <p:nvPr/>
        </p:nvSpPr>
        <p:spPr>
          <a:xfrm>
            <a:off x="777240" y="4800600"/>
            <a:ext cx="3063240" cy="594360"/>
          </a:xfrm>
          <a:prstGeom prst="rect">
            <a:avLst/>
          </a:prstGeom>
          <a:noFill/>
          <a:ln/>
        </p:spPr>
        <p:txBody>
          <a:bodyPr wrap="square" lIns="0" tIns="0" rIns="0" bIns="0" rtlCol="0" anchor="t"/>
          <a:lstStyle/>
          <a:p>
            <a:pPr indent="0" marL="0">
              <a:buNone/>
            </a:pPr>
            <a:r>
              <a:rPr lang="en-US" sz="1300" dirty="0">
                <a:solidFill>
                  <a:schemeClr val="tx2"/>
                </a:solidFill>
              </a:rPr>
              <a:t>Servis, adam-gün, takvim; veriyle kapsam</a:t>
            </a:r>
            <a:endParaRPr lang="en-US" sz="1300" dirty="0"/>
          </a:p>
        </p:txBody>
      </p:sp>
      <p:sp>
        <p:nvSpPr>
          <p:cNvPr id="32" name="Text 30"/>
          <p:cNvSpPr txBox="1"/>
          <p:nvPr/>
        </p:nvSpPr>
        <p:spPr>
          <a:xfrm>
            <a:off x="777240" y="5440680"/>
            <a:ext cx="2103120" cy="502920"/>
          </a:xfrm>
          <a:prstGeom prst="rect">
            <a:avLst/>
          </a:prstGeom>
          <a:noFill/>
          <a:ln/>
        </p:spPr>
        <p:txBody>
          <a:bodyPr wrap="square" lIns="0" tIns="0" rIns="0" bIns="0" rtlCol="0" anchor="ctr"/>
          <a:lstStyle/>
          <a:p>
            <a:pPr indent="0" marL="0">
              <a:buNone/>
            </a:pPr>
            <a:r>
              <a:rPr lang="en-US" sz="1300" b="1" dirty="0">
                <a:solidFill>
                  <a:schemeClr val="tx1"/>
                </a:solidFill>
              </a:rPr>
              <a:t>Erişim %58 → %89 · 20 a/g</a:t>
            </a:r>
            <a:endParaRPr lang="en-US" sz="1300" dirty="0"/>
          </a:p>
        </p:txBody>
      </p:sp>
      <p:sp>
        <p:nvSpPr>
          <p:cNvPr id="33" name="scen-status-D"/>
          <p:cNvSpPr/>
          <p:nvPr/>
        </p:nvSpPr>
        <p:spPr>
          <a:xfrm>
            <a:off x="2880360" y="5532120"/>
            <a:ext cx="1005840" cy="329184"/>
          </a:xfrm>
          <a:prstGeom prst="roundRect">
            <a:avLst>
              <a:gd name="adj" fmla="val 50000"/>
            </a:avLst>
          </a:prstGeom>
          <a:solidFill>
            <a:schemeClr val="accent2"/>
          </a:solidFill>
          <a:ln w="12700">
            <a:solidFill>
              <a:schemeClr val="accent2"/>
            </a:solidFill>
            <a:prstDash val="solid"/>
          </a:ln>
        </p:spPr>
      </p:sp>
      <p:sp>
        <p:nvSpPr>
          <p:cNvPr id="34" name="Text 32"/>
          <p:cNvSpPr txBox="1"/>
          <p:nvPr/>
        </p:nvSpPr>
        <p:spPr>
          <a:xfrm>
            <a:off x="2880360" y="553212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CANLI</a:t>
            </a:r>
            <a:endParaRPr lang="en-US" sz="1100" dirty="0"/>
          </a:p>
        </p:txBody>
      </p:sp>
      <p:sp>
        <p:nvSpPr>
          <p:cNvPr id="35" name="scen-card-E"/>
          <p:cNvSpPr/>
          <p:nvPr/>
        </p:nvSpPr>
        <p:spPr>
          <a:xfrm>
            <a:off x="4297680" y="3840480"/>
            <a:ext cx="3520440" cy="2331720"/>
          </a:xfrm>
          <a:prstGeom prst="roundRect">
            <a:avLst>
              <a:gd name="adj" fmla="val 4706"/>
            </a:avLst>
          </a:prstGeom>
          <a:solidFill>
            <a:schemeClr val="bg2"/>
          </a:solidFill>
          <a:ln w="12700">
            <a:solidFill>
              <a:schemeClr val="bg2"/>
            </a:solidFill>
            <a:prstDash val="solid"/>
          </a:ln>
        </p:spPr>
      </p:sp>
      <p:sp>
        <p:nvSpPr>
          <p:cNvPr id="36" name="scen-letter-E"/>
          <p:cNvSpPr/>
          <p:nvPr/>
        </p:nvSpPr>
        <p:spPr>
          <a:xfrm>
            <a:off x="4526280" y="4069080"/>
            <a:ext cx="548640" cy="548640"/>
          </a:xfrm>
          <a:prstGeom prst="ellipse">
            <a:avLst/>
          </a:prstGeom>
          <a:solidFill>
            <a:schemeClr val="accent5"/>
          </a:solidFill>
          <a:ln w="12700">
            <a:solidFill>
              <a:schemeClr val="accent5"/>
            </a:solidFill>
            <a:prstDash val="solid"/>
          </a:ln>
        </p:spPr>
      </p:sp>
      <p:sp>
        <p:nvSpPr>
          <p:cNvPr id="37" name="Text 35"/>
          <p:cNvSpPr txBox="1"/>
          <p:nvPr/>
        </p:nvSpPr>
        <p:spPr>
          <a:xfrm>
            <a:off x="4526280" y="40690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E</a:t>
            </a:r>
            <a:endParaRPr lang="en-US" sz="2000" dirty="0"/>
          </a:p>
        </p:txBody>
      </p:sp>
      <p:sp>
        <p:nvSpPr>
          <p:cNvPr id="38" name="Text 36"/>
          <p:cNvSpPr txBox="1"/>
          <p:nvPr/>
        </p:nvSpPr>
        <p:spPr>
          <a:xfrm>
            <a:off x="5212080" y="4023360"/>
            <a:ext cx="2468880" cy="685800"/>
          </a:xfrm>
          <a:prstGeom prst="rect">
            <a:avLst/>
          </a:prstGeom>
          <a:noFill/>
          <a:ln/>
        </p:spPr>
        <p:txBody>
          <a:bodyPr wrap="square" lIns="0" tIns="0" rIns="0" bIns="0" rtlCol="0" anchor="ctr"/>
          <a:lstStyle/>
          <a:p>
            <a:pPr indent="0" marL="0">
              <a:buNone/>
            </a:pPr>
            <a:r>
              <a:rPr lang="en-US" sz="1600" b="1" dirty="0">
                <a:solidFill>
                  <a:schemeClr val="tx1"/>
                </a:solidFill>
              </a:rPr>
              <a:t>Acil yeni ekran</a:t>
            </a:r>
            <a:endParaRPr lang="en-US" sz="1600" dirty="0"/>
          </a:p>
          <a:p>
            <a:pPr indent="0" marL="0">
              <a:buNone/>
            </a:pPr>
            <a:r>
              <a:rPr lang="en-US" sz="1100" dirty="0">
                <a:solidFill>
                  <a:schemeClr val="accent5"/>
                </a:solidFill>
              </a:rPr>
              <a:t>KRDTERTL (yeni) · Hakan → Ayşe</a:t>
            </a:r>
            <a:endParaRPr lang="en-US" sz="1600" dirty="0"/>
          </a:p>
        </p:txBody>
      </p:sp>
      <p:sp>
        <p:nvSpPr>
          <p:cNvPr id="39" name="Text 37"/>
          <p:cNvSpPr txBox="1"/>
          <p:nvPr/>
        </p:nvSpPr>
        <p:spPr>
          <a:xfrm>
            <a:off x="4526280" y="4800600"/>
            <a:ext cx="3063240" cy="594360"/>
          </a:xfrm>
          <a:prstGeom prst="rect">
            <a:avLst/>
          </a:prstGeom>
          <a:noFill/>
          <a:ln/>
        </p:spPr>
        <p:txBody>
          <a:bodyPr wrap="square" lIns="0" tIns="0" rIns="0" bIns="0" rtlCol="0" anchor="t"/>
          <a:lstStyle/>
          <a:p>
            <a:pPr indent="0" marL="0">
              <a:buNone/>
            </a:pPr>
            <a:r>
              <a:rPr lang="en-US" sz="1300" dirty="0">
                <a:solidFill>
                  <a:schemeClr val="tx2"/>
                </a:solidFill>
              </a:rPr>
              <a:t>Etkilenen müşteri, riskli sorular, kapasite çatışması</a:t>
            </a:r>
            <a:endParaRPr lang="en-US" sz="1300" dirty="0"/>
          </a:p>
        </p:txBody>
      </p:sp>
      <p:sp>
        <p:nvSpPr>
          <p:cNvPr id="40" name="Text 38"/>
          <p:cNvSpPr txBox="1"/>
          <p:nvPr/>
        </p:nvSpPr>
        <p:spPr>
          <a:xfrm>
            <a:off x="4526280" y="5440680"/>
            <a:ext cx="2103120" cy="502920"/>
          </a:xfrm>
          <a:prstGeom prst="rect">
            <a:avLst/>
          </a:prstGeom>
          <a:noFill/>
          <a:ln/>
        </p:spPr>
        <p:txBody>
          <a:bodyPr wrap="square" lIns="0" tIns="0" rIns="0" bIns="0" rtlCol="0" anchor="ctr"/>
          <a:lstStyle/>
          <a:p>
            <a:pPr indent="0" marL="0">
              <a:buNone/>
            </a:pPr>
            <a:r>
              <a:rPr lang="en-US" sz="1300" b="1" dirty="0">
                <a:solidFill>
                  <a:schemeClr val="tx1"/>
                </a:solidFill>
              </a:rPr>
              <a:t>Aynı gün karar · 17 a/g</a:t>
            </a:r>
            <a:endParaRPr lang="en-US" sz="1300" dirty="0"/>
          </a:p>
        </p:txBody>
      </p:sp>
      <p:sp>
        <p:nvSpPr>
          <p:cNvPr id="41" name="scen-status-E"/>
          <p:cNvSpPr/>
          <p:nvPr/>
        </p:nvSpPr>
        <p:spPr>
          <a:xfrm>
            <a:off x="6629400" y="5532120"/>
            <a:ext cx="1005840" cy="329184"/>
          </a:xfrm>
          <a:prstGeom prst="roundRect">
            <a:avLst>
              <a:gd name="adj" fmla="val 50000"/>
            </a:avLst>
          </a:prstGeom>
          <a:solidFill>
            <a:schemeClr val="accent5"/>
          </a:solidFill>
          <a:ln w="12700">
            <a:solidFill>
              <a:schemeClr val="accent5"/>
            </a:solidFill>
            <a:prstDash val="solid"/>
          </a:ln>
        </p:spPr>
      </p:sp>
      <p:sp>
        <p:nvSpPr>
          <p:cNvPr id="42" name="Text 40"/>
          <p:cNvSpPr txBox="1"/>
          <p:nvPr/>
        </p:nvSpPr>
        <p:spPr>
          <a:xfrm>
            <a:off x="6629400" y="553212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KAYIT</a:t>
            </a:r>
            <a:endParaRPr lang="en-US" sz="1100" dirty="0"/>
          </a:p>
        </p:txBody>
      </p:sp>
      <p:sp>
        <p:nvSpPr>
          <p:cNvPr id="43" name="scen-card-F"/>
          <p:cNvSpPr/>
          <p:nvPr/>
        </p:nvSpPr>
        <p:spPr>
          <a:xfrm>
            <a:off x="8046720" y="3840480"/>
            <a:ext cx="3520440" cy="2331720"/>
          </a:xfrm>
          <a:prstGeom prst="roundRect">
            <a:avLst>
              <a:gd name="adj" fmla="val 4706"/>
            </a:avLst>
          </a:prstGeom>
          <a:solidFill>
            <a:schemeClr val="bg2"/>
          </a:solidFill>
          <a:ln w="12700">
            <a:solidFill>
              <a:schemeClr val="bg2"/>
            </a:solidFill>
            <a:prstDash val="solid"/>
          </a:ln>
        </p:spPr>
      </p:sp>
      <p:sp>
        <p:nvSpPr>
          <p:cNvPr id="44" name="scen-letter-F"/>
          <p:cNvSpPr/>
          <p:nvPr/>
        </p:nvSpPr>
        <p:spPr>
          <a:xfrm>
            <a:off x="8275320" y="4069080"/>
            <a:ext cx="548640" cy="548640"/>
          </a:xfrm>
          <a:prstGeom prst="ellipse">
            <a:avLst/>
          </a:prstGeom>
          <a:solidFill>
            <a:schemeClr val="accent5"/>
          </a:solidFill>
          <a:ln w="12700">
            <a:solidFill>
              <a:schemeClr val="accent5"/>
            </a:solidFill>
            <a:prstDash val="solid"/>
          </a:ln>
        </p:spPr>
      </p:sp>
      <p:sp>
        <p:nvSpPr>
          <p:cNvPr id="45" name="Text 43"/>
          <p:cNvSpPr txBox="1"/>
          <p:nvPr/>
        </p:nvSpPr>
        <p:spPr>
          <a:xfrm>
            <a:off x="8275320" y="40690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F</a:t>
            </a:r>
            <a:endParaRPr lang="en-US" sz="2000" dirty="0"/>
          </a:p>
        </p:txBody>
      </p:sp>
      <p:sp>
        <p:nvSpPr>
          <p:cNvPr id="46" name="Text 44"/>
          <p:cNvSpPr txBox="1"/>
          <p:nvPr/>
        </p:nvSpPr>
        <p:spPr>
          <a:xfrm>
            <a:off x="8961120" y="4023360"/>
            <a:ext cx="2468880" cy="685800"/>
          </a:xfrm>
          <a:prstGeom prst="rect">
            <a:avLst/>
          </a:prstGeom>
          <a:noFill/>
          <a:ln/>
        </p:spPr>
        <p:txBody>
          <a:bodyPr wrap="square" lIns="0" tIns="0" rIns="0" bIns="0" rtlCol="0" anchor="ctr"/>
          <a:lstStyle/>
          <a:p>
            <a:pPr indent="0" marL="0">
              <a:buNone/>
            </a:pPr>
            <a:r>
              <a:rPr lang="en-US" sz="1600" b="1" dirty="0">
                <a:solidFill>
                  <a:schemeClr val="tx1"/>
                </a:solidFill>
              </a:rPr>
              <a:t>Günlük durum özeti</a:t>
            </a:r>
            <a:endParaRPr lang="en-US" sz="1600" dirty="0"/>
          </a:p>
          <a:p>
            <a:pPr indent="0" marL="0">
              <a:buNone/>
            </a:pPr>
            <a:r>
              <a:rPr lang="en-US" sz="1100" dirty="0">
                <a:solidFill>
                  <a:schemeClr val="accent5"/>
                </a:solidFill>
              </a:rPr>
              <a:t>Mercek sohbet · Kerem</a:t>
            </a:r>
            <a:endParaRPr lang="en-US" sz="1600" dirty="0"/>
          </a:p>
        </p:txBody>
      </p:sp>
      <p:sp>
        <p:nvSpPr>
          <p:cNvPr id="47" name="Text 45"/>
          <p:cNvSpPr txBox="1"/>
          <p:nvPr/>
        </p:nvSpPr>
        <p:spPr>
          <a:xfrm>
            <a:off x="8275320" y="4800600"/>
            <a:ext cx="3063240" cy="594360"/>
          </a:xfrm>
          <a:prstGeom prst="rect">
            <a:avLst/>
          </a:prstGeom>
          <a:noFill/>
          <a:ln/>
        </p:spPr>
        <p:txBody>
          <a:bodyPr wrap="square" lIns="0" tIns="0" rIns="0" bIns="0" rtlCol="0" anchor="t"/>
          <a:lstStyle/>
          <a:p>
            <a:pPr indent="0" marL="0">
              <a:buNone/>
            </a:pPr>
            <a:r>
              <a:rPr lang="en-US" sz="1300" dirty="0">
                <a:solidFill>
                  <a:schemeClr val="tx2"/>
                </a:solidFill>
              </a:rPr>
              <a:t>Kibana bilgisi gerektirmeden sohbetle özet</a:t>
            </a:r>
            <a:endParaRPr lang="en-US" sz="1300" dirty="0"/>
          </a:p>
        </p:txBody>
      </p:sp>
      <p:sp>
        <p:nvSpPr>
          <p:cNvPr id="48" name="Text 46"/>
          <p:cNvSpPr txBox="1"/>
          <p:nvPr/>
        </p:nvSpPr>
        <p:spPr>
          <a:xfrm>
            <a:off x="8275320" y="5440680"/>
            <a:ext cx="2103120" cy="502920"/>
          </a:xfrm>
          <a:prstGeom prst="rect">
            <a:avLst/>
          </a:prstGeom>
          <a:noFill/>
          <a:ln/>
        </p:spPr>
        <p:txBody>
          <a:bodyPr wrap="square" lIns="0" tIns="0" rIns="0" bIns="0" rtlCol="0" anchor="ctr"/>
          <a:lstStyle/>
          <a:p>
            <a:pPr indent="0" marL="0">
              <a:buNone/>
            </a:pPr>
            <a:r>
              <a:rPr lang="en-US" sz="1300" b="1" dirty="0">
                <a:solidFill>
                  <a:schemeClr val="tx1"/>
                </a:solidFill>
              </a:rPr>
              <a:t>En sorunlu ekran: ODMTFATR</a:t>
            </a:r>
            <a:endParaRPr lang="en-US" sz="1300" dirty="0"/>
          </a:p>
        </p:txBody>
      </p:sp>
      <p:sp>
        <p:nvSpPr>
          <p:cNvPr id="49" name="scen-status-F"/>
          <p:cNvSpPr/>
          <p:nvPr/>
        </p:nvSpPr>
        <p:spPr>
          <a:xfrm>
            <a:off x="10378440" y="5532120"/>
            <a:ext cx="1005840" cy="329184"/>
          </a:xfrm>
          <a:prstGeom prst="roundRect">
            <a:avLst>
              <a:gd name="adj" fmla="val 50000"/>
            </a:avLst>
          </a:prstGeom>
          <a:solidFill>
            <a:schemeClr val="accent5"/>
          </a:solidFill>
          <a:ln w="12700">
            <a:solidFill>
              <a:schemeClr val="accent5"/>
            </a:solidFill>
            <a:prstDash val="solid"/>
          </a:ln>
        </p:spPr>
      </p:sp>
      <p:sp>
        <p:nvSpPr>
          <p:cNvPr id="50" name="Text 48"/>
          <p:cNvSpPr txBox="1"/>
          <p:nvPr/>
        </p:nvSpPr>
        <p:spPr>
          <a:xfrm>
            <a:off x="10378440" y="553212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KAYIT</a:t>
            </a:r>
            <a:endParaRPr lang="en-US" sz="11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indent="0" marL="0">
              <a:buNone/>
            </a:pPr>
            <a:r>
              <a:rPr lang="en-US" sz="3600" b="1" dirty="0">
                <a:solidFill>
                  <a:schemeClr val="tx1"/>
                </a:solidFill>
              </a:rPr>
              <a:t>Canlı demo: dört sahne</a:t>
            </a:r>
            <a:endParaRPr lang="en-US" sz="3600" dirty="0"/>
          </a:p>
        </p:txBody>
      </p:sp>
      <p:sp>
        <p:nvSpPr>
          <p:cNvPr id="3" name="scene-card-1"/>
          <p:cNvSpPr/>
          <p:nvPr/>
        </p:nvSpPr>
        <p:spPr>
          <a:xfrm>
            <a:off x="548640" y="1280160"/>
            <a:ext cx="5440680" cy="2377440"/>
          </a:xfrm>
          <a:prstGeom prst="roundRect">
            <a:avLst>
              <a:gd name="adj" fmla="val 4615"/>
            </a:avLst>
          </a:prstGeom>
          <a:solidFill>
            <a:schemeClr val="bg2"/>
          </a:solidFill>
          <a:ln w="12700">
            <a:solidFill>
              <a:schemeClr val="bg2"/>
            </a:solidFill>
            <a:prstDash val="solid"/>
          </a:ln>
        </p:spPr>
      </p:sp>
      <p:pic>
        <p:nvPicPr>
          <p:cNvPr id="4" name="demo-image-1" descr="/home/claude/zthackathonstudy/presentation/mockups/m-a-panel.png">    </p:cNvPr>
          <p:cNvPicPr>
            <a:picLocks noChangeAspect="1"/>
          </p:cNvPicPr>
          <p:nvPr/>
        </p:nvPicPr>
        <p:blipFill>
          <a:blip r:embed="rId1"/>
          <a:stretch>
            <a:fillRect/>
          </a:stretch>
        </p:blipFill>
        <p:spPr>
          <a:xfrm>
            <a:off x="731520" y="1463040"/>
            <a:ext cx="3397032" cy="2011680"/>
          </a:xfrm>
          <a:prstGeom prst="rect">
            <a:avLst/>
          </a:prstGeom>
        </p:spPr>
      </p:pic>
      <p:sp>
        <p:nvSpPr>
          <p:cNvPr id="5" name="scene-time-1"/>
          <p:cNvSpPr/>
          <p:nvPr/>
        </p:nvSpPr>
        <p:spPr>
          <a:xfrm>
            <a:off x="4311432" y="1463040"/>
            <a:ext cx="868680" cy="310896"/>
          </a:xfrm>
          <a:prstGeom prst="roundRect">
            <a:avLst>
              <a:gd name="adj" fmla="val 50000"/>
            </a:avLst>
          </a:prstGeom>
          <a:solidFill>
            <a:schemeClr val="accent1"/>
          </a:solidFill>
          <a:ln w="12700">
            <a:solidFill>
              <a:schemeClr val="accent1"/>
            </a:solidFill>
            <a:prstDash val="solid"/>
          </a:ln>
        </p:spPr>
      </p:sp>
      <p:sp>
        <p:nvSpPr>
          <p:cNvPr id="6" name="Text 3"/>
          <p:cNvSpPr txBox="1"/>
          <p:nvPr/>
        </p:nvSpPr>
        <p:spPr>
          <a:xfrm>
            <a:off x="4311432" y="1463040"/>
            <a:ext cx="868680" cy="310896"/>
          </a:xfrm>
          <a:prstGeom prst="rect">
            <a:avLst/>
          </a:prstGeom>
          <a:noFill/>
          <a:ln/>
        </p:spPr>
        <p:txBody>
          <a:bodyPr wrap="square" lIns="0" tIns="0" rIns="0" bIns="0" rtlCol="0" anchor="ctr"/>
          <a:lstStyle/>
          <a:p>
            <a:pPr algn="ctr" indent="0" marL="0">
              <a:buNone/>
            </a:pPr>
            <a:r>
              <a:rPr lang="en-US" sz="1100" b="1" dirty="0">
                <a:solidFill>
                  <a:schemeClr val="tx1"/>
                </a:solidFill>
              </a:rPr>
              <a:t>~45 sn</a:t>
            </a:r>
            <a:endParaRPr lang="en-US" sz="1100" dirty="0"/>
          </a:p>
        </p:txBody>
      </p:sp>
      <p:sp>
        <p:nvSpPr>
          <p:cNvPr id="7" name="Text 4"/>
          <p:cNvSpPr txBox="1"/>
          <p:nvPr/>
        </p:nvSpPr>
        <p:spPr>
          <a:xfrm>
            <a:off x="4311432" y="1847088"/>
            <a:ext cx="1495008" cy="457200"/>
          </a:xfrm>
          <a:prstGeom prst="rect">
            <a:avLst/>
          </a:prstGeom>
          <a:noFill/>
          <a:ln/>
        </p:spPr>
        <p:txBody>
          <a:bodyPr wrap="square" lIns="0" tIns="0" rIns="0" bIns="0" rtlCol="0" anchor="t"/>
          <a:lstStyle/>
          <a:p>
            <a:pPr indent="0" marL="0">
              <a:buNone/>
            </a:pPr>
            <a:r>
              <a:rPr lang="en-US" sz="1500" b="1" dirty="0">
                <a:solidFill>
                  <a:schemeClr val="tx1"/>
                </a:solidFill>
              </a:rPr>
              <a:t>A · Hata mı, kural mı?</a:t>
            </a:r>
            <a:endParaRPr lang="en-US" sz="1500" dirty="0"/>
          </a:p>
        </p:txBody>
      </p:sp>
      <p:sp>
        <p:nvSpPr>
          <p:cNvPr id="8" name="Text 5"/>
          <p:cNvSpPr txBox="1"/>
          <p:nvPr/>
        </p:nvSpPr>
        <p:spPr>
          <a:xfrm>
            <a:off x="4311432" y="2304288"/>
            <a:ext cx="1495008" cy="1234440"/>
          </a:xfrm>
          <a:prstGeom prst="rect">
            <a:avLst/>
          </a:prstGeom>
          <a:noFill/>
          <a:ln/>
        </p:spPr>
        <p:txBody>
          <a:bodyPr wrap="square" lIns="0" tIns="0" rIns="0" bIns="0" rtlCol="0" anchor="t"/>
          <a:lstStyle/>
          <a:p>
            <a:pPr indent="0" marL="0">
              <a:buNone/>
            </a:pPr>
            <a:r>
              <a:rPr lang="en-US" sz="1150" dirty="0">
                <a:solidFill>
                  <a:schemeClr val="tx2"/>
                </a:solidFill>
              </a:rPr>
              <a:t>Elif yazmadan Mercek iş kuralını açıklıyor, 'Bana göster' ile 330.000 TL / 36 ay dolduruluyor. Çağrı açılmıyor.</a:t>
            </a:r>
            <a:endParaRPr lang="en-US" sz="1150" dirty="0"/>
          </a:p>
        </p:txBody>
      </p:sp>
      <p:sp>
        <p:nvSpPr>
          <p:cNvPr id="9" name="scene-card-2"/>
          <p:cNvSpPr/>
          <p:nvPr/>
        </p:nvSpPr>
        <p:spPr>
          <a:xfrm>
            <a:off x="6172200" y="1280160"/>
            <a:ext cx="5440680" cy="2377440"/>
          </a:xfrm>
          <a:prstGeom prst="roundRect">
            <a:avLst>
              <a:gd name="adj" fmla="val 4615"/>
            </a:avLst>
          </a:prstGeom>
          <a:solidFill>
            <a:schemeClr val="bg2"/>
          </a:solidFill>
          <a:ln w="12700">
            <a:solidFill>
              <a:schemeClr val="bg2"/>
            </a:solidFill>
            <a:prstDash val="solid"/>
          </a:ln>
        </p:spPr>
      </p:sp>
      <p:pic>
        <p:nvPicPr>
          <p:cNvPr id="10" name="demo-image-2" descr="/home/claude/zthackathonstudy/presentation/mockups/m-b-callcenter.png">    </p:cNvPr>
          <p:cNvPicPr>
            <a:picLocks noChangeAspect="1"/>
          </p:cNvPicPr>
          <p:nvPr/>
        </p:nvPicPr>
        <p:blipFill>
          <a:blip r:embed="rId2"/>
          <a:stretch>
            <a:fillRect/>
          </a:stretch>
        </p:blipFill>
        <p:spPr>
          <a:xfrm>
            <a:off x="6355080" y="1463040"/>
            <a:ext cx="3397032" cy="2011680"/>
          </a:xfrm>
          <a:prstGeom prst="rect">
            <a:avLst/>
          </a:prstGeom>
        </p:spPr>
      </p:pic>
      <p:sp>
        <p:nvSpPr>
          <p:cNvPr id="11" name="scene-time-2"/>
          <p:cNvSpPr/>
          <p:nvPr/>
        </p:nvSpPr>
        <p:spPr>
          <a:xfrm>
            <a:off x="9934992" y="1463040"/>
            <a:ext cx="868680" cy="310896"/>
          </a:xfrm>
          <a:prstGeom prst="roundRect">
            <a:avLst>
              <a:gd name="adj" fmla="val 50000"/>
            </a:avLst>
          </a:prstGeom>
          <a:solidFill>
            <a:schemeClr val="accent1"/>
          </a:solidFill>
          <a:ln w="12700">
            <a:solidFill>
              <a:schemeClr val="accent1"/>
            </a:solidFill>
            <a:prstDash val="solid"/>
          </a:ln>
        </p:spPr>
      </p:sp>
      <p:sp>
        <p:nvSpPr>
          <p:cNvPr id="12" name="Text 8"/>
          <p:cNvSpPr txBox="1"/>
          <p:nvPr/>
        </p:nvSpPr>
        <p:spPr>
          <a:xfrm>
            <a:off x="9934992" y="1463040"/>
            <a:ext cx="868680" cy="310896"/>
          </a:xfrm>
          <a:prstGeom prst="rect">
            <a:avLst/>
          </a:prstGeom>
          <a:noFill/>
          <a:ln/>
        </p:spPr>
        <p:txBody>
          <a:bodyPr wrap="square" lIns="0" tIns="0" rIns="0" bIns="0" rtlCol="0" anchor="ctr"/>
          <a:lstStyle/>
          <a:p>
            <a:pPr algn="ctr" indent="0" marL="0">
              <a:buNone/>
            </a:pPr>
            <a:r>
              <a:rPr lang="en-US" sz="1100" b="1" dirty="0">
                <a:solidFill>
                  <a:schemeClr val="tx1"/>
                </a:solidFill>
              </a:rPr>
              <a:t>~50 sn</a:t>
            </a:r>
            <a:endParaRPr lang="en-US" sz="1100" dirty="0"/>
          </a:p>
        </p:txBody>
      </p:sp>
      <p:sp>
        <p:nvSpPr>
          <p:cNvPr id="13" name="Text 9"/>
          <p:cNvSpPr txBox="1"/>
          <p:nvPr/>
        </p:nvSpPr>
        <p:spPr>
          <a:xfrm>
            <a:off x="9934992" y="1847088"/>
            <a:ext cx="1495008" cy="457200"/>
          </a:xfrm>
          <a:prstGeom prst="rect">
            <a:avLst/>
          </a:prstGeom>
          <a:noFill/>
          <a:ln/>
        </p:spPr>
        <p:txBody>
          <a:bodyPr wrap="square" lIns="0" tIns="0" rIns="0" bIns="0" rtlCol="0" anchor="t"/>
          <a:lstStyle/>
          <a:p>
            <a:pPr indent="0" marL="0">
              <a:buNone/>
            </a:pPr>
            <a:r>
              <a:rPr lang="en-US" sz="1500" b="1" dirty="0">
                <a:solidFill>
                  <a:schemeClr val="tx1"/>
                </a:solidFill>
              </a:rPr>
              <a:t>B · Bilinen çözüm</a:t>
            </a:r>
            <a:endParaRPr lang="en-US" sz="1500" dirty="0"/>
          </a:p>
        </p:txBody>
      </p:sp>
      <p:sp>
        <p:nvSpPr>
          <p:cNvPr id="14" name="Text 10"/>
          <p:cNvSpPr txBox="1"/>
          <p:nvPr/>
        </p:nvSpPr>
        <p:spPr>
          <a:xfrm>
            <a:off x="9934992" y="2304288"/>
            <a:ext cx="1495008" cy="1234440"/>
          </a:xfrm>
          <a:prstGeom prst="rect">
            <a:avLst/>
          </a:prstGeom>
          <a:noFill/>
          <a:ln/>
        </p:spPr>
        <p:txBody>
          <a:bodyPr wrap="square" lIns="0" tIns="0" rIns="0" bIns="0" rtlCol="0" anchor="t"/>
          <a:lstStyle/>
          <a:p>
            <a:pPr indent="0" marL="0">
              <a:buNone/>
            </a:pPr>
            <a:r>
              <a:rPr lang="en-US" sz="1150" dirty="0">
                <a:solidFill>
                  <a:schemeClr val="tx2"/>
                </a:solidFill>
              </a:rPr>
              <a:t>Zeynep'e müşteriye söylenecek metin; vaka CAG-2051'e bağlanıyor; Kerem'e %93 eşleşen çözüm.</a:t>
            </a:r>
            <a:endParaRPr lang="en-US" sz="1150" dirty="0"/>
          </a:p>
        </p:txBody>
      </p:sp>
      <p:sp>
        <p:nvSpPr>
          <p:cNvPr id="15" name="scene-card-3"/>
          <p:cNvSpPr/>
          <p:nvPr/>
        </p:nvSpPr>
        <p:spPr>
          <a:xfrm>
            <a:off x="548640" y="3794760"/>
            <a:ext cx="5440680" cy="2377440"/>
          </a:xfrm>
          <a:prstGeom prst="roundRect">
            <a:avLst>
              <a:gd name="adj" fmla="val 4615"/>
            </a:avLst>
          </a:prstGeom>
          <a:solidFill>
            <a:schemeClr val="bg2"/>
          </a:solidFill>
          <a:ln w="12700">
            <a:solidFill>
              <a:schemeClr val="bg2"/>
            </a:solidFill>
            <a:prstDash val="solid"/>
          </a:ln>
        </p:spPr>
      </p:sp>
      <p:pic>
        <p:nvPicPr>
          <p:cNvPr id="16" name="demo-image-3" descr="/home/claude/zthackathonstudy/presentation/mockups/m-c-code.png">    </p:cNvPr>
          <p:cNvPicPr>
            <a:picLocks noChangeAspect="1"/>
          </p:cNvPicPr>
          <p:nvPr/>
        </p:nvPicPr>
        <p:blipFill>
          <a:blip r:embed="rId3"/>
          <a:stretch>
            <a:fillRect/>
          </a:stretch>
        </p:blipFill>
        <p:spPr>
          <a:xfrm>
            <a:off x="731520" y="3977640"/>
            <a:ext cx="3397032" cy="2011680"/>
          </a:xfrm>
          <a:prstGeom prst="rect">
            <a:avLst/>
          </a:prstGeom>
        </p:spPr>
      </p:pic>
      <p:sp>
        <p:nvSpPr>
          <p:cNvPr id="17" name="scene-time-3"/>
          <p:cNvSpPr/>
          <p:nvPr/>
        </p:nvSpPr>
        <p:spPr>
          <a:xfrm>
            <a:off x="4311432" y="3977640"/>
            <a:ext cx="868680" cy="310896"/>
          </a:xfrm>
          <a:prstGeom prst="roundRect">
            <a:avLst>
              <a:gd name="adj" fmla="val 50000"/>
            </a:avLst>
          </a:prstGeom>
          <a:solidFill>
            <a:schemeClr val="accent1"/>
          </a:solidFill>
          <a:ln w="12700">
            <a:solidFill>
              <a:schemeClr val="accent1"/>
            </a:solidFill>
            <a:prstDash val="solid"/>
          </a:ln>
        </p:spPr>
      </p:sp>
      <p:sp>
        <p:nvSpPr>
          <p:cNvPr id="18" name="Text 13"/>
          <p:cNvSpPr txBox="1"/>
          <p:nvPr/>
        </p:nvSpPr>
        <p:spPr>
          <a:xfrm>
            <a:off x="4311432" y="3977640"/>
            <a:ext cx="868680" cy="310896"/>
          </a:xfrm>
          <a:prstGeom prst="rect">
            <a:avLst/>
          </a:prstGeom>
          <a:noFill/>
          <a:ln/>
        </p:spPr>
        <p:txBody>
          <a:bodyPr wrap="square" lIns="0" tIns="0" rIns="0" bIns="0" rtlCol="0" anchor="ctr"/>
          <a:lstStyle/>
          <a:p>
            <a:pPr algn="ctr" indent="0" marL="0">
              <a:buNone/>
            </a:pPr>
            <a:r>
              <a:rPr lang="en-US" sz="1100" b="1" dirty="0">
                <a:solidFill>
                  <a:schemeClr val="tx1"/>
                </a:solidFill>
              </a:rPr>
              <a:t>~35 sn</a:t>
            </a:r>
            <a:endParaRPr lang="en-US" sz="1100" dirty="0"/>
          </a:p>
        </p:txBody>
      </p:sp>
      <p:sp>
        <p:nvSpPr>
          <p:cNvPr id="19" name="Text 14"/>
          <p:cNvSpPr txBox="1"/>
          <p:nvPr/>
        </p:nvSpPr>
        <p:spPr>
          <a:xfrm>
            <a:off x="4311432" y="4361688"/>
            <a:ext cx="1495008" cy="457200"/>
          </a:xfrm>
          <a:prstGeom prst="rect">
            <a:avLst/>
          </a:prstGeom>
          <a:noFill/>
          <a:ln/>
        </p:spPr>
        <p:txBody>
          <a:bodyPr wrap="square" lIns="0" tIns="0" rIns="0" bIns="0" rtlCol="0" anchor="t"/>
          <a:lstStyle/>
          <a:p>
            <a:pPr indent="0" marL="0">
              <a:buNone/>
            </a:pPr>
            <a:r>
              <a:rPr lang="en-US" sz="1500" b="1" dirty="0">
                <a:solidFill>
                  <a:schemeClr val="tx1"/>
                </a:solidFill>
              </a:rPr>
              <a:t>C · Dış dünya değişti</a:t>
            </a:r>
            <a:endParaRPr lang="en-US" sz="1500" dirty="0"/>
          </a:p>
        </p:txBody>
      </p:sp>
      <p:sp>
        <p:nvSpPr>
          <p:cNvPr id="20" name="Text 15"/>
          <p:cNvSpPr txBox="1"/>
          <p:nvPr/>
        </p:nvSpPr>
        <p:spPr>
          <a:xfrm>
            <a:off x="4311432" y="4818888"/>
            <a:ext cx="1495008" cy="1234440"/>
          </a:xfrm>
          <a:prstGeom prst="rect">
            <a:avLst/>
          </a:prstGeom>
          <a:noFill/>
          <a:ln/>
        </p:spPr>
        <p:txBody>
          <a:bodyPr wrap="square" lIns="0" tIns="0" rIns="0" bIns="0" rtlCol="0" anchor="t"/>
          <a:lstStyle/>
          <a:p>
            <a:pPr indent="0" marL="0">
              <a:buNone/>
            </a:pPr>
            <a:r>
              <a:rPr lang="en-US" sz="1150" dirty="0">
                <a:solidFill>
                  <a:schemeClr val="tx2"/>
                </a:solidFill>
              </a:rPr>
              <a:t>412 hata, %97 İSKİ, 13 hane; İSKİ duyurusu; kuralın koddaki iki yeri ve düzeltme; ASKİ uyarısı.</a:t>
            </a:r>
            <a:endParaRPr lang="en-US" sz="1150" dirty="0"/>
          </a:p>
        </p:txBody>
      </p:sp>
      <p:sp>
        <p:nvSpPr>
          <p:cNvPr id="21" name="scene-card-4"/>
          <p:cNvSpPr/>
          <p:nvPr/>
        </p:nvSpPr>
        <p:spPr>
          <a:xfrm>
            <a:off x="6172200" y="3794760"/>
            <a:ext cx="5440680" cy="2377440"/>
          </a:xfrm>
          <a:prstGeom prst="roundRect">
            <a:avLst>
              <a:gd name="adj" fmla="val 4615"/>
            </a:avLst>
          </a:prstGeom>
          <a:solidFill>
            <a:schemeClr val="bg2"/>
          </a:solidFill>
          <a:ln w="12700">
            <a:solidFill>
              <a:schemeClr val="bg2"/>
            </a:solidFill>
            <a:prstDash val="solid"/>
          </a:ln>
        </p:spPr>
      </p:sp>
      <p:pic>
        <p:nvPicPr>
          <p:cNvPr id="22" name="demo-image-4" descr="/home/claude/zthackathonstudy/presentation/mockups/m-d-request.png">    </p:cNvPr>
          <p:cNvPicPr>
            <a:picLocks noChangeAspect="1"/>
          </p:cNvPicPr>
          <p:nvPr/>
        </p:nvPicPr>
        <p:blipFill>
          <a:blip r:embed="rId4"/>
          <a:stretch>
            <a:fillRect/>
          </a:stretch>
        </p:blipFill>
        <p:spPr>
          <a:xfrm>
            <a:off x="6355080" y="3977640"/>
            <a:ext cx="3397032" cy="2011680"/>
          </a:xfrm>
          <a:prstGeom prst="rect">
            <a:avLst/>
          </a:prstGeom>
        </p:spPr>
      </p:pic>
      <p:sp>
        <p:nvSpPr>
          <p:cNvPr id="23" name="scene-time-4"/>
          <p:cNvSpPr/>
          <p:nvPr/>
        </p:nvSpPr>
        <p:spPr>
          <a:xfrm>
            <a:off x="9934992" y="3977640"/>
            <a:ext cx="868680" cy="310896"/>
          </a:xfrm>
          <a:prstGeom prst="roundRect">
            <a:avLst>
              <a:gd name="adj" fmla="val 50000"/>
            </a:avLst>
          </a:prstGeom>
          <a:solidFill>
            <a:schemeClr val="accent1"/>
          </a:solidFill>
          <a:ln w="12700">
            <a:solidFill>
              <a:schemeClr val="accent1"/>
            </a:solidFill>
            <a:prstDash val="solid"/>
          </a:ln>
        </p:spPr>
      </p:sp>
      <p:sp>
        <p:nvSpPr>
          <p:cNvPr id="24" name="Text 18"/>
          <p:cNvSpPr txBox="1"/>
          <p:nvPr/>
        </p:nvSpPr>
        <p:spPr>
          <a:xfrm>
            <a:off x="9934992" y="3977640"/>
            <a:ext cx="868680" cy="310896"/>
          </a:xfrm>
          <a:prstGeom prst="rect">
            <a:avLst/>
          </a:prstGeom>
          <a:noFill/>
          <a:ln/>
        </p:spPr>
        <p:txBody>
          <a:bodyPr wrap="square" lIns="0" tIns="0" rIns="0" bIns="0" rtlCol="0" anchor="ctr"/>
          <a:lstStyle/>
          <a:p>
            <a:pPr algn="ctr" indent="0" marL="0">
              <a:buNone/>
            </a:pPr>
            <a:r>
              <a:rPr lang="en-US" sz="1100" b="1" dirty="0">
                <a:solidFill>
                  <a:schemeClr val="tx1"/>
                </a:solidFill>
              </a:rPr>
              <a:t>~45 sn</a:t>
            </a:r>
            <a:endParaRPr lang="en-US" sz="1100" dirty="0"/>
          </a:p>
        </p:txBody>
      </p:sp>
      <p:sp>
        <p:nvSpPr>
          <p:cNvPr id="25" name="Text 19"/>
          <p:cNvSpPr txBox="1"/>
          <p:nvPr/>
        </p:nvSpPr>
        <p:spPr>
          <a:xfrm>
            <a:off x="9934992" y="4361688"/>
            <a:ext cx="1495008" cy="457200"/>
          </a:xfrm>
          <a:prstGeom prst="rect">
            <a:avLst/>
          </a:prstGeom>
          <a:noFill/>
          <a:ln/>
        </p:spPr>
        <p:txBody>
          <a:bodyPr wrap="square" lIns="0" tIns="0" rIns="0" bIns="0" rtlCol="0" anchor="t"/>
          <a:lstStyle/>
          <a:p>
            <a:pPr indent="0" marL="0">
              <a:buNone/>
            </a:pPr>
            <a:r>
              <a:rPr lang="en-US" sz="1500" b="1" dirty="0">
                <a:solidFill>
                  <a:schemeClr val="tx1"/>
                </a:solidFill>
              </a:rPr>
              <a:t>D · Talepten plana</a:t>
            </a:r>
            <a:endParaRPr lang="en-US" sz="1500" dirty="0"/>
          </a:p>
        </p:txBody>
      </p:sp>
      <p:sp>
        <p:nvSpPr>
          <p:cNvPr id="26" name="Text 20"/>
          <p:cNvSpPr txBox="1"/>
          <p:nvPr/>
        </p:nvSpPr>
        <p:spPr>
          <a:xfrm>
            <a:off x="9934992" y="4818888"/>
            <a:ext cx="1495008" cy="1234440"/>
          </a:xfrm>
          <a:prstGeom prst="rect">
            <a:avLst/>
          </a:prstGeom>
          <a:noFill/>
          <a:ln/>
        </p:spPr>
        <p:txBody>
          <a:bodyPr wrap="square" lIns="0" tIns="0" rIns="0" bIns="0" rtlCol="0" anchor="t"/>
          <a:lstStyle/>
          <a:p>
            <a:pPr indent="0" marL="0">
              <a:buNone/>
            </a:pPr>
            <a:r>
              <a:rPr lang="en-US" sz="1150" dirty="0">
                <a:solidFill>
                  <a:schemeClr val="tx2"/>
                </a:solidFill>
              </a:rPr>
              <a:t>Fatma'nın talebi: KRDRTKSR'ye buton + batch işi, 18 a/g; SMS ile erişim %58 → %89, 20 a/g, 4 Aralık.</a:t>
            </a:r>
            <a:endParaRPr lang="en-US" sz="1150" dirty="0"/>
          </a:p>
        </p:txBody>
      </p:sp>
      <p:sp>
        <p:nvSpPr>
          <p:cNvPr id="27" name="draft-note"/>
          <p:cNvSpPr txBox="1"/>
          <p:nvPr/>
        </p:nvSpPr>
        <p:spPr>
          <a:xfrm>
            <a:off x="548640" y="6263640"/>
            <a:ext cx="7315200" cy="256032"/>
          </a:xfrm>
          <a:prstGeom prst="rect">
            <a:avLst/>
          </a:prstGeom>
          <a:noFill/>
          <a:ln/>
        </p:spPr>
        <p:txBody>
          <a:bodyPr wrap="square" lIns="0" tIns="0" rIns="0" bIns="0" rtlCol="0" anchor="ctr"/>
          <a:lstStyle/>
          <a:p>
            <a:pPr indent="0" marL="0">
              <a:buNone/>
            </a:pPr>
            <a:r>
              <a:rPr lang="en-US" sz="1000" i="1" dirty="0">
                <a:solidFill>
                  <a:schemeClr val="accent5"/>
                </a:solidFill>
              </a:rPr>
              <a:t>Taslak görsel — gerçek ekran görüntüsüyle değiştirilecek</a:t>
            </a:r>
            <a:endParaRPr lang="en-US" sz="10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indent="0" marL="0">
              <a:buNone/>
            </a:pPr>
            <a:r>
              <a:rPr lang="en-US" sz="3600" b="1" dirty="0">
                <a:solidFill>
                  <a:schemeClr val="tx1"/>
                </a:solidFill>
              </a:rPr>
              <a:t>İş değeri: önce ve sonra</a:t>
            </a:r>
            <a:endParaRPr lang="en-US" sz="3600" dirty="0"/>
          </a:p>
        </p:txBody>
      </p:sp>
      <p:sp>
        <p:nvSpPr>
          <p:cNvPr id="3" name="stat-card-1"/>
          <p:cNvSpPr/>
          <p:nvPr/>
        </p:nvSpPr>
        <p:spPr>
          <a:xfrm>
            <a:off x="548640" y="1371600"/>
            <a:ext cx="3520440" cy="1508760"/>
          </a:xfrm>
          <a:prstGeom prst="roundRect">
            <a:avLst>
              <a:gd name="adj" fmla="val 7273"/>
            </a:avLst>
          </a:prstGeom>
          <a:solidFill>
            <a:schemeClr val="bg2"/>
          </a:solidFill>
          <a:ln w="12700">
            <a:solidFill>
              <a:schemeClr val="bg2"/>
            </a:solidFill>
            <a:prstDash val="solid"/>
          </a:ln>
        </p:spPr>
      </p:sp>
      <p:sp>
        <p:nvSpPr>
          <p:cNvPr id="4" name="Text 2"/>
          <p:cNvSpPr txBox="1"/>
          <p:nvPr/>
        </p:nvSpPr>
        <p:spPr>
          <a:xfrm>
            <a:off x="822960" y="1463040"/>
            <a:ext cx="2971800" cy="1325880"/>
          </a:xfrm>
          <a:prstGeom prst="rect">
            <a:avLst/>
          </a:prstGeom>
          <a:noFill/>
          <a:ln/>
        </p:spPr>
        <p:txBody>
          <a:bodyPr wrap="square" lIns="0" tIns="0" rIns="0" bIns="0" rtlCol="0" anchor="ctr"/>
          <a:lstStyle/>
          <a:p>
            <a:pPr indent="0" marL="0">
              <a:buNone/>
            </a:pPr>
            <a:r>
              <a:rPr lang="en-US" sz="2200" b="1" dirty="0">
                <a:solidFill>
                  <a:schemeClr val="accent2"/>
                </a:solidFill>
              </a:rPr>
              <a:t>Çağrı hiç açılmıyor</a:t>
            </a:r>
            <a:endParaRPr lang="en-US" sz="2200" dirty="0"/>
          </a:p>
          <a:p>
            <a:pPr indent="0" marL="0">
              <a:buNone/>
            </a:pPr>
            <a:r>
              <a:rPr lang="en-US" sz="1400" dirty="0">
                <a:solidFill>
                  <a:schemeClr val="accent5"/>
                </a:solidFill>
              </a:rPr>
              <a:t>İş kuralı reddinde (A)</a:t>
            </a:r>
            <a:endParaRPr lang="en-US" sz="2200" dirty="0"/>
          </a:p>
        </p:txBody>
      </p:sp>
      <p:sp>
        <p:nvSpPr>
          <p:cNvPr id="5" name="stat-card-2"/>
          <p:cNvSpPr/>
          <p:nvPr/>
        </p:nvSpPr>
        <p:spPr>
          <a:xfrm>
            <a:off x="4297680" y="1371600"/>
            <a:ext cx="3520440" cy="1508760"/>
          </a:xfrm>
          <a:prstGeom prst="roundRect">
            <a:avLst>
              <a:gd name="adj" fmla="val 7273"/>
            </a:avLst>
          </a:prstGeom>
          <a:solidFill>
            <a:schemeClr val="bg2"/>
          </a:solidFill>
          <a:ln w="12700">
            <a:solidFill>
              <a:schemeClr val="bg2"/>
            </a:solidFill>
            <a:prstDash val="solid"/>
          </a:ln>
        </p:spPr>
      </p:sp>
      <p:sp>
        <p:nvSpPr>
          <p:cNvPr id="6" name="Text 4"/>
          <p:cNvSpPr txBox="1"/>
          <p:nvPr/>
        </p:nvSpPr>
        <p:spPr>
          <a:xfrm>
            <a:off x="4572000" y="1463040"/>
            <a:ext cx="2971800" cy="1325880"/>
          </a:xfrm>
          <a:prstGeom prst="rect">
            <a:avLst/>
          </a:prstGeom>
          <a:noFill/>
          <a:ln/>
        </p:spPr>
        <p:txBody>
          <a:bodyPr wrap="square" lIns="0" tIns="0" rIns="0" bIns="0" rtlCol="0" anchor="ctr"/>
          <a:lstStyle/>
          <a:p>
            <a:pPr indent="0" marL="0">
              <a:buNone/>
            </a:pPr>
            <a:r>
              <a:rPr lang="en-US" sz="2200" b="1" dirty="0">
                <a:solidFill>
                  <a:schemeClr val="accent1"/>
                </a:solidFill>
              </a:rPr>
              <a:t>Onlarca arama → tek kayıt</a:t>
            </a:r>
            <a:endParaRPr lang="en-US" sz="2200" dirty="0"/>
          </a:p>
          <a:p>
            <a:pPr indent="0" marL="0">
              <a:buNone/>
            </a:pPr>
            <a:r>
              <a:rPr lang="en-US" sz="1400" dirty="0">
                <a:solidFill>
                  <a:schemeClr val="accent5"/>
                </a:solidFill>
              </a:rPr>
              <a:t>Kurum kaynaklı sorunda (B)</a:t>
            </a:r>
            <a:endParaRPr lang="en-US" sz="2200" dirty="0"/>
          </a:p>
        </p:txBody>
      </p:sp>
      <p:sp>
        <p:nvSpPr>
          <p:cNvPr id="7" name="stat-card-3"/>
          <p:cNvSpPr/>
          <p:nvPr/>
        </p:nvSpPr>
        <p:spPr>
          <a:xfrm>
            <a:off x="8046720" y="1371600"/>
            <a:ext cx="3520440" cy="1508760"/>
          </a:xfrm>
          <a:prstGeom prst="roundRect">
            <a:avLst>
              <a:gd name="adj" fmla="val 7273"/>
            </a:avLst>
          </a:prstGeom>
          <a:solidFill>
            <a:schemeClr val="bg2"/>
          </a:solidFill>
          <a:ln w="12700">
            <a:solidFill>
              <a:schemeClr val="bg2"/>
            </a:solidFill>
            <a:prstDash val="solid"/>
          </a:ln>
        </p:spPr>
      </p:sp>
      <p:sp>
        <p:nvSpPr>
          <p:cNvPr id="8" name="Text 6"/>
          <p:cNvSpPr txBox="1"/>
          <p:nvPr/>
        </p:nvSpPr>
        <p:spPr>
          <a:xfrm>
            <a:off x="8321040" y="1463040"/>
            <a:ext cx="2971800" cy="1325880"/>
          </a:xfrm>
          <a:prstGeom prst="rect">
            <a:avLst/>
          </a:prstGeom>
          <a:noFill/>
          <a:ln/>
        </p:spPr>
        <p:txBody>
          <a:bodyPr wrap="square" lIns="0" tIns="0" rIns="0" bIns="0" rtlCol="0" anchor="ctr"/>
          <a:lstStyle/>
          <a:p>
            <a:pPr indent="0" marL="0">
              <a:buNone/>
            </a:pPr>
            <a:r>
              <a:rPr lang="en-US" sz="2200" b="1" dirty="0">
                <a:solidFill>
                  <a:schemeClr val="tx2"/>
                </a:solidFill>
              </a:rPr>
              <a:t>Toplantı → dakikalar</a:t>
            </a:r>
            <a:endParaRPr lang="en-US" sz="2200" dirty="0"/>
          </a:p>
          <a:p>
            <a:pPr indent="0" marL="0">
              <a:buNone/>
            </a:pPr>
            <a:r>
              <a:rPr lang="en-US" sz="1400" dirty="0">
                <a:solidFill>
                  <a:schemeClr val="accent5"/>
                </a:solidFill>
              </a:rPr>
              <a:t>Talep analizi ve planı (D)</a:t>
            </a:r>
            <a:endParaRPr lang="en-US" sz="2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3108960"/>
          <a:ext cx="11064240" cy="914400"/>
        </p:xfrm>
        <a:graphic>
          <a:graphicData uri="http://schemas.openxmlformats.org/drawingml/2006/table">
            <a:tbl>
              <a:tblPr/>
              <a:tblGrid>
                <a:gridCol w="2743200"/>
                <a:gridCol w="3840480"/>
                <a:gridCol w="4480560"/>
              </a:tblGrid>
              <a:tr h="429768">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Ölçü</a:t>
                      </a:r>
                      <a:endParaRPr lang="en-US" sz="1300" dirty="0">
                        <a:latin typeface="Calibri" charset="0"/>
                        <a:ea typeface="Calibri" charset="0"/>
                        <a:cs typeface="Calibri" charset="0"/>
                      </a:endParaRPr>
                    </a:p>
                  </a:txBody>
                  <a:tcPr marL="109728" marR="109728" marT="45720" marB="45720" anchor="ctr">
                    <a:lnL w="12700" cap="flat" cmpd="sng" algn="ctr">
                      <a:solidFill>
                        <a:srgbClr val="DDE2E8"/>
                      </a:solidFill>
                      <a:prstDash val="solid"/>
                      <a:round/>
                      <a:headEnd type="none" w="med" len="med"/>
                      <a:tailEnd type="none" w="med" len="med"/>
                    </a:lnL>
                    <a:lnR w="12700" cap="flat" cmpd="sng" algn="ctr">
                      <a:solidFill>
                        <a:srgbClr val="DDE2E8"/>
                      </a:solidFill>
                      <a:prstDash val="solid"/>
                      <a:round/>
                      <a:headEnd type="none" w="med" len="med"/>
                      <a:tailEnd type="none" w="med" len="med"/>
                    </a:lnR>
                    <a:lnT w="12700" cap="flat" cmpd="sng" algn="ctr">
                      <a:solidFill>
                        <a:srgbClr val="DDE2E8"/>
                      </a:solidFill>
                      <a:prstDash val="solid"/>
                      <a:round/>
                      <a:headEnd type="none" w="med" len="med"/>
                      <a:tailEnd type="none" w="med" len="med"/>
                    </a:lnT>
                    <a:lnB w="12700" cap="flat" cmpd="sng" algn="ctr">
                      <a:solidFill>
                        <a:srgbClr val="DDE2E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Bugün</a:t>
                      </a:r>
                      <a:endParaRPr lang="en-US" sz="1300" dirty="0">
                        <a:latin typeface="Calibri" charset="0"/>
                        <a:ea typeface="Calibri" charset="0"/>
                        <a:cs typeface="Calibri" charset="0"/>
                      </a:endParaRPr>
                    </a:p>
                  </a:txBody>
                  <a:tcPr marL="109728" marR="109728" marT="45720" marB="45720" anchor="ctr">
                    <a:lnL w="12700" cap="flat" cmpd="sng" algn="ctr">
                      <a:solidFill>
                        <a:srgbClr val="DDE2E8"/>
                      </a:solidFill>
                      <a:prstDash val="solid"/>
                      <a:round/>
                      <a:headEnd type="none" w="med" len="med"/>
                      <a:tailEnd type="none" w="med" len="med"/>
                    </a:lnL>
                    <a:lnR w="12700" cap="flat" cmpd="sng" algn="ctr">
                      <a:solidFill>
                        <a:srgbClr val="DDE2E8"/>
                      </a:solidFill>
                      <a:prstDash val="solid"/>
                      <a:round/>
                      <a:headEnd type="none" w="med" len="med"/>
                      <a:tailEnd type="none" w="med" len="med"/>
                    </a:lnR>
                    <a:lnT w="12700" cap="flat" cmpd="sng" algn="ctr">
                      <a:solidFill>
                        <a:srgbClr val="DDE2E8"/>
                      </a:solidFill>
                      <a:prstDash val="solid"/>
                      <a:round/>
                      <a:headEnd type="none" w="med" len="med"/>
                      <a:tailEnd type="none" w="med" len="med"/>
                    </a:lnT>
                    <a:lnB w="12700" cap="flat" cmpd="sng" algn="ctr">
                      <a:solidFill>
                        <a:srgbClr val="DDE2E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Mercek ile</a:t>
                      </a:r>
                      <a:endParaRPr lang="en-US" sz="1300" dirty="0">
                        <a:latin typeface="Calibri" charset="0"/>
                        <a:ea typeface="Calibri" charset="0"/>
                        <a:cs typeface="Calibri" charset="0"/>
                      </a:endParaRPr>
                    </a:p>
                  </a:txBody>
                  <a:tcPr marL="109728" marR="109728" marT="45720" marB="45720" anchor="ctr">
                    <a:lnL w="12700" cap="flat" cmpd="sng" algn="ctr">
                      <a:solidFill>
                        <a:srgbClr val="DDE2E8"/>
                      </a:solidFill>
                      <a:prstDash val="solid"/>
                      <a:round/>
                      <a:headEnd type="none" w="med" len="med"/>
                      <a:tailEnd type="none" w="med" len="med"/>
                    </a:lnL>
                    <a:lnR w="12700" cap="flat" cmpd="sng" algn="ctr">
                      <a:solidFill>
                        <a:srgbClr val="DDE2E8"/>
                      </a:solidFill>
                      <a:prstDash val="solid"/>
                      <a:round/>
                      <a:headEnd type="none" w="med" len="med"/>
                      <a:tailEnd type="none" w="med" len="med"/>
                    </a:lnR>
                    <a:lnT w="12700" cap="flat" cmpd="sng" algn="ctr">
                      <a:solidFill>
                        <a:srgbClr val="DDE2E8"/>
                      </a:solidFill>
                      <a:prstDash val="solid"/>
                      <a:round/>
                      <a:headEnd type="none" w="med" len="med"/>
                      <a:tailEnd type="none" w="med" len="med"/>
                    </a:lnT>
                    <a:lnB w="12700" cap="flat" cmpd="sng" algn="ctr">
                      <a:solidFill>
                        <a:srgbClr val="DDE2E8"/>
                      </a:solidFill>
                      <a:prstDash val="solid"/>
                      <a:round/>
                      <a:headEnd type="none" w="med" len="med"/>
                      <a:tailEnd type="none" w="med" len="med"/>
                    </a:lnB>
                    <a:solidFill>
                      <a:schemeClr val="tx2"/>
                    </a:solidFill>
                  </a:tcPr>
                </a:tc>
              </a:tr>
              <a:tr h="42976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İş kuralı reddi</a:t>
                      </a:r>
                      <a:endParaRPr lang="en-US" sz="1300" dirty="0">
                        <a:latin typeface="Calibri" charset="0"/>
                        <a:ea typeface="Calibri" charset="0"/>
                        <a:cs typeface="Calibri" charset="0"/>
                      </a:endParaRPr>
                    </a:p>
                  </a:txBody>
                  <a:tcPr marL="109728" marR="109728" marT="45720" marB="45720" anchor="ctr">
                    <a:lnL w="12700" cap="flat" cmpd="sng" algn="ctr">
                      <a:solidFill>
                        <a:srgbClr val="DDE2E8"/>
                      </a:solidFill>
                      <a:prstDash val="solid"/>
                      <a:round/>
                      <a:headEnd type="none" w="med" len="med"/>
                      <a:tailEnd type="none" w="med" len="med"/>
                    </a:lnL>
                    <a:lnR w="12700" cap="flat" cmpd="sng" algn="ctr">
                      <a:solidFill>
                        <a:srgbClr val="DDE2E8"/>
                      </a:solidFill>
                      <a:prstDash val="solid"/>
                      <a:round/>
                      <a:headEnd type="none" w="med" len="med"/>
                      <a:tailEnd type="none" w="med" len="med"/>
                    </a:lnR>
                    <a:lnT w="12700" cap="flat" cmpd="sng" algn="ctr">
                      <a:solidFill>
                        <a:srgbClr val="DDE2E8"/>
                      </a:solidFill>
                      <a:prstDash val="solid"/>
                      <a:round/>
                      <a:headEnd type="none" w="med" len="med"/>
                      <a:tailEnd type="none" w="med" len="med"/>
                    </a:lnT>
                    <a:lnB w="12700" cap="flat" cmpd="sng" algn="ctr">
                      <a:solidFill>
                        <a:srgbClr val="DDE2E8"/>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Çağrı açılır, L1 kuralı açıklar</a:t>
                      </a:r>
                      <a:endParaRPr lang="en-US" sz="1300" dirty="0">
                        <a:latin typeface="Calibri" charset="0"/>
                        <a:ea typeface="Calibri" charset="0"/>
                        <a:cs typeface="Calibri" charset="0"/>
                      </a:endParaRPr>
                    </a:p>
                  </a:txBody>
                  <a:tcPr marL="109728" marR="109728" marT="45720" marB="45720" anchor="ctr">
                    <a:lnL w="12700" cap="flat" cmpd="sng" algn="ctr">
                      <a:solidFill>
                        <a:srgbClr val="DDE2E8"/>
                      </a:solidFill>
                      <a:prstDash val="solid"/>
                      <a:round/>
                      <a:headEnd type="none" w="med" len="med"/>
                      <a:tailEnd type="none" w="med" len="med"/>
                    </a:lnL>
                    <a:lnR w="12700" cap="flat" cmpd="sng" algn="ctr">
                      <a:solidFill>
                        <a:srgbClr val="DDE2E8"/>
                      </a:solidFill>
                      <a:prstDash val="solid"/>
                      <a:round/>
                      <a:headEnd type="none" w="med" len="med"/>
                      <a:tailEnd type="none" w="med" len="med"/>
                    </a:lnR>
                    <a:lnT w="12700" cap="flat" cmpd="sng" algn="ctr">
                      <a:solidFill>
                        <a:srgbClr val="DDE2E8"/>
                      </a:solidFill>
                      <a:prstDash val="solid"/>
                      <a:round/>
                      <a:headEnd type="none" w="med" len="med"/>
                      <a:tailEnd type="none" w="med" len="med"/>
                    </a:lnT>
                    <a:lnB w="12700" cap="flat" cmpd="sng" algn="ctr">
                      <a:solidFill>
                        <a:srgbClr val="DDE2E8"/>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Ekranda açıklanır, uygun alternatif hesaplanır</a:t>
                      </a:r>
                      <a:endParaRPr lang="en-US" sz="1300" dirty="0">
                        <a:latin typeface="Calibri" charset="0"/>
                        <a:ea typeface="Calibri" charset="0"/>
                        <a:cs typeface="Calibri" charset="0"/>
                      </a:endParaRPr>
                    </a:p>
                  </a:txBody>
                  <a:tcPr marL="109728" marR="109728" marT="45720" marB="45720" anchor="ctr">
                    <a:lnL w="12700" cap="flat" cmpd="sng" algn="ctr">
                      <a:solidFill>
                        <a:srgbClr val="DDE2E8"/>
                      </a:solidFill>
                      <a:prstDash val="solid"/>
                      <a:round/>
                      <a:headEnd type="none" w="med" len="med"/>
                      <a:tailEnd type="none" w="med" len="med"/>
                    </a:lnL>
                    <a:lnR w="12700" cap="flat" cmpd="sng" algn="ctr">
                      <a:solidFill>
                        <a:srgbClr val="DDE2E8"/>
                      </a:solidFill>
                      <a:prstDash val="solid"/>
                      <a:round/>
                      <a:headEnd type="none" w="med" len="med"/>
                      <a:tailEnd type="none" w="med" len="med"/>
                    </a:lnR>
                    <a:lnT w="12700" cap="flat" cmpd="sng" algn="ctr">
                      <a:solidFill>
                        <a:srgbClr val="DDE2E8"/>
                      </a:solidFill>
                      <a:prstDash val="solid"/>
                      <a:round/>
                      <a:headEnd type="none" w="med" len="med"/>
                      <a:tailEnd type="none" w="med" len="med"/>
                    </a:lnT>
                    <a:lnB w="12700" cap="flat" cmpd="sng" algn="ctr">
                      <a:solidFill>
                        <a:srgbClr val="DDE2E8"/>
                      </a:solidFill>
                      <a:prstDash val="solid"/>
                      <a:round/>
                      <a:headEnd type="none" w="med" len="med"/>
                      <a:tailEnd type="none" w="med" len="med"/>
                    </a:lnB>
                  </a:tcPr>
                </a:tc>
              </a:tr>
              <a:tr h="42976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Yaygın kurum sorunu</a:t>
                      </a:r>
                      <a:endParaRPr lang="en-US" sz="1300" dirty="0">
                        <a:latin typeface="Calibri" charset="0"/>
                        <a:ea typeface="Calibri" charset="0"/>
                        <a:cs typeface="Calibri" charset="0"/>
                      </a:endParaRPr>
                    </a:p>
                  </a:txBody>
                  <a:tcPr marL="109728" marR="109728" marT="45720" marB="45720" anchor="ctr">
                    <a:lnL w="12700" cap="flat" cmpd="sng" algn="ctr">
                      <a:solidFill>
                        <a:srgbClr val="DDE2E8"/>
                      </a:solidFill>
                      <a:prstDash val="solid"/>
                      <a:round/>
                      <a:headEnd type="none" w="med" len="med"/>
                      <a:tailEnd type="none" w="med" len="med"/>
                    </a:lnL>
                    <a:lnR w="12700" cap="flat" cmpd="sng" algn="ctr">
                      <a:solidFill>
                        <a:srgbClr val="DDE2E8"/>
                      </a:solidFill>
                      <a:prstDash val="solid"/>
                      <a:round/>
                      <a:headEnd type="none" w="med" len="med"/>
                      <a:tailEnd type="none" w="med" len="med"/>
                    </a:lnR>
                    <a:lnT w="12700" cap="flat" cmpd="sng" algn="ctr">
                      <a:solidFill>
                        <a:srgbClr val="DDE2E8"/>
                      </a:solidFill>
                      <a:prstDash val="solid"/>
                      <a:round/>
                      <a:headEnd type="none" w="med" len="med"/>
                      <a:tailEnd type="none" w="med" len="med"/>
                    </a:lnT>
                    <a:lnB w="12700" cap="flat" cmpd="sng" algn="ctr">
                      <a:solidFill>
                        <a:srgbClr val="DDE2E8"/>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Her arama ayrı çağrı</a:t>
                      </a:r>
                      <a:endParaRPr lang="en-US" sz="1300" dirty="0">
                        <a:latin typeface="Calibri" charset="0"/>
                        <a:ea typeface="Calibri" charset="0"/>
                        <a:cs typeface="Calibri" charset="0"/>
                      </a:endParaRPr>
                    </a:p>
                  </a:txBody>
                  <a:tcPr marL="109728" marR="109728" marT="45720" marB="45720" anchor="ctr">
                    <a:lnL w="12700" cap="flat" cmpd="sng" algn="ctr">
                      <a:solidFill>
                        <a:srgbClr val="DDE2E8"/>
                      </a:solidFill>
                      <a:prstDash val="solid"/>
                      <a:round/>
                      <a:headEnd type="none" w="med" len="med"/>
                      <a:tailEnd type="none" w="med" len="med"/>
                    </a:lnL>
                    <a:lnR w="12700" cap="flat" cmpd="sng" algn="ctr">
                      <a:solidFill>
                        <a:srgbClr val="DDE2E8"/>
                      </a:solidFill>
                      <a:prstDash val="solid"/>
                      <a:round/>
                      <a:headEnd type="none" w="med" len="med"/>
                      <a:tailEnd type="none" w="med" len="med"/>
                    </a:lnR>
                    <a:lnT w="12700" cap="flat" cmpd="sng" algn="ctr">
                      <a:solidFill>
                        <a:srgbClr val="DDE2E8"/>
                      </a:solidFill>
                      <a:prstDash val="solid"/>
                      <a:round/>
                      <a:headEnd type="none" w="med" len="med"/>
                      <a:tailEnd type="none" w="med" len="med"/>
                    </a:lnT>
                    <a:lnB w="12700" cap="flat" cmpd="sng" algn="ctr">
                      <a:solidFill>
                        <a:srgbClr val="DDE2E8"/>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Tek ana kayıt, temsilciye hazır müşteri açıklaması</a:t>
                      </a:r>
                      <a:endParaRPr lang="en-US" sz="1300" dirty="0">
                        <a:latin typeface="Calibri" charset="0"/>
                        <a:ea typeface="Calibri" charset="0"/>
                        <a:cs typeface="Calibri" charset="0"/>
                      </a:endParaRPr>
                    </a:p>
                  </a:txBody>
                  <a:tcPr marL="109728" marR="109728" marT="45720" marB="45720" anchor="ctr">
                    <a:lnL w="12700" cap="flat" cmpd="sng" algn="ctr">
                      <a:solidFill>
                        <a:srgbClr val="DDE2E8"/>
                      </a:solidFill>
                      <a:prstDash val="solid"/>
                      <a:round/>
                      <a:headEnd type="none" w="med" len="med"/>
                      <a:tailEnd type="none" w="med" len="med"/>
                    </a:lnL>
                    <a:lnR w="12700" cap="flat" cmpd="sng" algn="ctr">
                      <a:solidFill>
                        <a:srgbClr val="DDE2E8"/>
                      </a:solidFill>
                      <a:prstDash val="solid"/>
                      <a:round/>
                      <a:headEnd type="none" w="med" len="med"/>
                      <a:tailEnd type="none" w="med" len="med"/>
                    </a:lnR>
                    <a:lnT w="12700" cap="flat" cmpd="sng" algn="ctr">
                      <a:solidFill>
                        <a:srgbClr val="DDE2E8"/>
                      </a:solidFill>
                      <a:prstDash val="solid"/>
                      <a:round/>
                      <a:headEnd type="none" w="med" len="med"/>
                      <a:tailEnd type="none" w="med" len="med"/>
                    </a:lnT>
                    <a:lnB w="12700" cap="flat" cmpd="sng" algn="ctr">
                      <a:solidFill>
                        <a:srgbClr val="DDE2E8"/>
                      </a:solidFill>
                      <a:prstDash val="solid"/>
                      <a:round/>
                      <a:headEnd type="none" w="med" len="med"/>
                      <a:tailEnd type="none" w="med" len="med"/>
                    </a:lnB>
                  </a:tcPr>
                </a:tc>
              </a:tr>
              <a:tr h="42976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Bilinen sorun</a:t>
                      </a:r>
                      <a:endParaRPr lang="en-US" sz="1300" dirty="0">
                        <a:latin typeface="Calibri" charset="0"/>
                        <a:ea typeface="Calibri" charset="0"/>
                        <a:cs typeface="Calibri" charset="0"/>
                      </a:endParaRPr>
                    </a:p>
                  </a:txBody>
                  <a:tcPr marL="109728" marR="109728" marT="45720" marB="45720" anchor="ctr">
                    <a:lnL w="12700" cap="flat" cmpd="sng" algn="ctr">
                      <a:solidFill>
                        <a:srgbClr val="DDE2E8"/>
                      </a:solidFill>
                      <a:prstDash val="solid"/>
                      <a:round/>
                      <a:headEnd type="none" w="med" len="med"/>
                      <a:tailEnd type="none" w="med" len="med"/>
                    </a:lnL>
                    <a:lnR w="12700" cap="flat" cmpd="sng" algn="ctr">
                      <a:solidFill>
                        <a:srgbClr val="DDE2E8"/>
                      </a:solidFill>
                      <a:prstDash val="solid"/>
                      <a:round/>
                      <a:headEnd type="none" w="med" len="med"/>
                      <a:tailEnd type="none" w="med" len="med"/>
                    </a:lnR>
                    <a:lnT w="12700" cap="flat" cmpd="sng" algn="ctr">
                      <a:solidFill>
                        <a:srgbClr val="DDE2E8"/>
                      </a:solidFill>
                      <a:prstDash val="solid"/>
                      <a:round/>
                      <a:headEnd type="none" w="med" len="med"/>
                      <a:tailEnd type="none" w="med" len="med"/>
                    </a:lnT>
                    <a:lnB w="12700" cap="flat" cmpd="sng" algn="ctr">
                      <a:solidFill>
                        <a:srgbClr val="DDE2E8"/>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L2 log arar, çözüm kişide</a:t>
                      </a:r>
                      <a:endParaRPr lang="en-US" sz="1300" dirty="0">
                        <a:latin typeface="Calibri" charset="0"/>
                        <a:ea typeface="Calibri" charset="0"/>
                        <a:cs typeface="Calibri" charset="0"/>
                      </a:endParaRPr>
                    </a:p>
                  </a:txBody>
                  <a:tcPr marL="109728" marR="109728" marT="45720" marB="45720" anchor="ctr">
                    <a:lnL w="12700" cap="flat" cmpd="sng" algn="ctr">
                      <a:solidFill>
                        <a:srgbClr val="DDE2E8"/>
                      </a:solidFill>
                      <a:prstDash val="solid"/>
                      <a:round/>
                      <a:headEnd type="none" w="med" len="med"/>
                      <a:tailEnd type="none" w="med" len="med"/>
                    </a:lnL>
                    <a:lnR w="12700" cap="flat" cmpd="sng" algn="ctr">
                      <a:solidFill>
                        <a:srgbClr val="DDE2E8"/>
                      </a:solidFill>
                      <a:prstDash val="solid"/>
                      <a:round/>
                      <a:headEnd type="none" w="med" len="med"/>
                      <a:tailEnd type="none" w="med" len="med"/>
                    </a:lnR>
                    <a:lnT w="12700" cap="flat" cmpd="sng" algn="ctr">
                      <a:solidFill>
                        <a:srgbClr val="DDE2E8"/>
                      </a:solidFill>
                      <a:prstDash val="solid"/>
                      <a:round/>
                      <a:headEnd type="none" w="med" len="med"/>
                      <a:tailEnd type="none" w="med" len="med"/>
                    </a:lnT>
                    <a:lnB w="12700" cap="flat" cmpd="sng" algn="ctr">
                      <a:solidFill>
                        <a:srgbClr val="DDE2E8"/>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Kaynaklı eşleşen çözüm, saniyeler içinde</a:t>
                      </a:r>
                      <a:endParaRPr lang="en-US" sz="1300" dirty="0">
                        <a:latin typeface="Calibri" charset="0"/>
                        <a:ea typeface="Calibri" charset="0"/>
                        <a:cs typeface="Calibri" charset="0"/>
                      </a:endParaRPr>
                    </a:p>
                  </a:txBody>
                  <a:tcPr marL="109728" marR="109728" marT="45720" marB="45720" anchor="ctr">
                    <a:lnL w="12700" cap="flat" cmpd="sng" algn="ctr">
                      <a:solidFill>
                        <a:srgbClr val="DDE2E8"/>
                      </a:solidFill>
                      <a:prstDash val="solid"/>
                      <a:round/>
                      <a:headEnd type="none" w="med" len="med"/>
                      <a:tailEnd type="none" w="med" len="med"/>
                    </a:lnL>
                    <a:lnR w="12700" cap="flat" cmpd="sng" algn="ctr">
                      <a:solidFill>
                        <a:srgbClr val="DDE2E8"/>
                      </a:solidFill>
                      <a:prstDash val="solid"/>
                      <a:round/>
                      <a:headEnd type="none" w="med" len="med"/>
                      <a:tailEnd type="none" w="med" len="med"/>
                    </a:lnR>
                    <a:lnT w="12700" cap="flat" cmpd="sng" algn="ctr">
                      <a:solidFill>
                        <a:srgbClr val="DDE2E8"/>
                      </a:solidFill>
                      <a:prstDash val="solid"/>
                      <a:round/>
                      <a:headEnd type="none" w="med" len="med"/>
                      <a:tailEnd type="none" w="med" len="med"/>
                    </a:lnT>
                    <a:lnB w="12700" cap="flat" cmpd="sng" algn="ctr">
                      <a:solidFill>
                        <a:srgbClr val="DDE2E8"/>
                      </a:solidFill>
                      <a:prstDash val="solid"/>
                      <a:round/>
                      <a:headEnd type="none" w="med" len="med"/>
                      <a:tailEnd type="none" w="med" len="med"/>
                    </a:lnB>
                  </a:tcPr>
                </a:tc>
              </a:tr>
              <a:tr h="42976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Yeni sorun</a:t>
                      </a:r>
                      <a:endParaRPr lang="en-US" sz="1300" dirty="0">
                        <a:latin typeface="Calibri" charset="0"/>
                        <a:ea typeface="Calibri" charset="0"/>
                        <a:cs typeface="Calibri" charset="0"/>
                      </a:endParaRPr>
                    </a:p>
                  </a:txBody>
                  <a:tcPr marL="109728" marR="109728" marT="45720" marB="45720" anchor="ctr">
                    <a:lnL w="12700" cap="flat" cmpd="sng" algn="ctr">
                      <a:solidFill>
                        <a:srgbClr val="DDE2E8"/>
                      </a:solidFill>
                      <a:prstDash val="solid"/>
                      <a:round/>
                      <a:headEnd type="none" w="med" len="med"/>
                      <a:tailEnd type="none" w="med" len="med"/>
                    </a:lnL>
                    <a:lnR w="12700" cap="flat" cmpd="sng" algn="ctr">
                      <a:solidFill>
                        <a:srgbClr val="DDE2E8"/>
                      </a:solidFill>
                      <a:prstDash val="solid"/>
                      <a:round/>
                      <a:headEnd type="none" w="med" len="med"/>
                      <a:tailEnd type="none" w="med" len="med"/>
                    </a:lnR>
                    <a:lnT w="12700" cap="flat" cmpd="sng" algn="ctr">
                      <a:solidFill>
                        <a:srgbClr val="DDE2E8"/>
                      </a:solidFill>
                      <a:prstDash val="solid"/>
                      <a:round/>
                      <a:headEnd type="none" w="med" len="med"/>
                      <a:tailEnd type="none" w="med" len="med"/>
                    </a:lnT>
                    <a:lnB w="12700" cap="flat" cmpd="sng" algn="ctr">
                      <a:solidFill>
                        <a:srgbClr val="DDE2E8"/>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Kök neden günlerce aranır</a:t>
                      </a:r>
                      <a:endParaRPr lang="en-US" sz="1300" dirty="0">
                        <a:latin typeface="Calibri" charset="0"/>
                        <a:ea typeface="Calibri" charset="0"/>
                        <a:cs typeface="Calibri" charset="0"/>
                      </a:endParaRPr>
                    </a:p>
                  </a:txBody>
                  <a:tcPr marL="109728" marR="109728" marT="45720" marB="45720" anchor="ctr">
                    <a:lnL w="12700" cap="flat" cmpd="sng" algn="ctr">
                      <a:solidFill>
                        <a:srgbClr val="DDE2E8"/>
                      </a:solidFill>
                      <a:prstDash val="solid"/>
                      <a:round/>
                      <a:headEnd type="none" w="med" len="med"/>
                      <a:tailEnd type="none" w="med" len="med"/>
                    </a:lnL>
                    <a:lnR w="12700" cap="flat" cmpd="sng" algn="ctr">
                      <a:solidFill>
                        <a:srgbClr val="DDE2E8"/>
                      </a:solidFill>
                      <a:prstDash val="solid"/>
                      <a:round/>
                      <a:headEnd type="none" w="med" len="med"/>
                      <a:tailEnd type="none" w="med" len="med"/>
                    </a:lnR>
                    <a:lnT w="12700" cap="flat" cmpd="sng" algn="ctr">
                      <a:solidFill>
                        <a:srgbClr val="DDE2E8"/>
                      </a:solidFill>
                      <a:prstDash val="solid"/>
                      <a:round/>
                      <a:headEnd type="none" w="med" len="med"/>
                      <a:tailEnd type="none" w="med" len="med"/>
                    </a:lnT>
                    <a:lnB w="12700" cap="flat" cmpd="sng" algn="ctr">
                      <a:solidFill>
                        <a:srgbClr val="DDE2E8"/>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Log + duyuru + kod; sonraki olay önceden görülür</a:t>
                      </a:r>
                      <a:endParaRPr lang="en-US" sz="1300" dirty="0">
                        <a:latin typeface="Calibri" charset="0"/>
                        <a:ea typeface="Calibri" charset="0"/>
                        <a:cs typeface="Calibri" charset="0"/>
                      </a:endParaRPr>
                    </a:p>
                  </a:txBody>
                  <a:tcPr marL="109728" marR="109728" marT="45720" marB="45720" anchor="ctr">
                    <a:lnL w="12700" cap="flat" cmpd="sng" algn="ctr">
                      <a:solidFill>
                        <a:srgbClr val="DDE2E8"/>
                      </a:solidFill>
                      <a:prstDash val="solid"/>
                      <a:round/>
                      <a:headEnd type="none" w="med" len="med"/>
                      <a:tailEnd type="none" w="med" len="med"/>
                    </a:lnL>
                    <a:lnR w="12700" cap="flat" cmpd="sng" algn="ctr">
                      <a:solidFill>
                        <a:srgbClr val="DDE2E8"/>
                      </a:solidFill>
                      <a:prstDash val="solid"/>
                      <a:round/>
                      <a:headEnd type="none" w="med" len="med"/>
                      <a:tailEnd type="none" w="med" len="med"/>
                    </a:lnR>
                    <a:lnT w="12700" cap="flat" cmpd="sng" algn="ctr">
                      <a:solidFill>
                        <a:srgbClr val="DDE2E8"/>
                      </a:solidFill>
                      <a:prstDash val="solid"/>
                      <a:round/>
                      <a:headEnd type="none" w="med" len="med"/>
                      <a:tailEnd type="none" w="med" len="med"/>
                    </a:lnT>
                    <a:lnB w="12700" cap="flat" cmpd="sng" algn="ctr">
                      <a:solidFill>
                        <a:srgbClr val="DDE2E8"/>
                      </a:solidFill>
                      <a:prstDash val="solid"/>
                      <a:round/>
                      <a:headEnd type="none" w="med" len="med"/>
                      <a:tailEnd type="none" w="med" len="med"/>
                    </a:lnB>
                  </a:tcPr>
                </a:tc>
              </a:tr>
              <a:tr h="42976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Talep planı</a:t>
                      </a:r>
                      <a:endParaRPr lang="en-US" sz="1300" dirty="0">
                        <a:latin typeface="Calibri" charset="0"/>
                        <a:ea typeface="Calibri" charset="0"/>
                        <a:cs typeface="Calibri" charset="0"/>
                      </a:endParaRPr>
                    </a:p>
                  </a:txBody>
                  <a:tcPr marL="109728" marR="109728" marT="45720" marB="45720" anchor="ctr">
                    <a:lnL w="12700" cap="flat" cmpd="sng" algn="ctr">
                      <a:solidFill>
                        <a:srgbClr val="DDE2E8"/>
                      </a:solidFill>
                      <a:prstDash val="solid"/>
                      <a:round/>
                      <a:headEnd type="none" w="med" len="med"/>
                      <a:tailEnd type="none" w="med" len="med"/>
                    </a:lnL>
                    <a:lnR w="12700" cap="flat" cmpd="sng" algn="ctr">
                      <a:solidFill>
                        <a:srgbClr val="DDE2E8"/>
                      </a:solidFill>
                      <a:prstDash val="solid"/>
                      <a:round/>
                      <a:headEnd type="none" w="med" len="med"/>
                      <a:tailEnd type="none" w="med" len="med"/>
                    </a:lnR>
                    <a:lnT w="12700" cap="flat" cmpd="sng" algn="ctr">
                      <a:solidFill>
                        <a:srgbClr val="DDE2E8"/>
                      </a:solidFill>
                      <a:prstDash val="solid"/>
                      <a:round/>
                      <a:headEnd type="none" w="med" len="med"/>
                      <a:tailEnd type="none" w="med" len="med"/>
                    </a:lnT>
                    <a:lnB w="12700" cap="flat" cmpd="sng" algn="ctr">
                      <a:solidFill>
                        <a:srgbClr val="DDE2E8"/>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Servisler ve erişim sorunu geç fark edilir</a:t>
                      </a:r>
                      <a:endParaRPr lang="en-US" sz="1300" dirty="0">
                        <a:latin typeface="Calibri" charset="0"/>
                        <a:ea typeface="Calibri" charset="0"/>
                        <a:cs typeface="Calibri" charset="0"/>
                      </a:endParaRPr>
                    </a:p>
                  </a:txBody>
                  <a:tcPr marL="109728" marR="109728" marT="45720" marB="45720" anchor="ctr">
                    <a:lnL w="12700" cap="flat" cmpd="sng" algn="ctr">
                      <a:solidFill>
                        <a:srgbClr val="DDE2E8"/>
                      </a:solidFill>
                      <a:prstDash val="solid"/>
                      <a:round/>
                      <a:headEnd type="none" w="med" len="med"/>
                      <a:tailEnd type="none" w="med" len="med"/>
                    </a:lnL>
                    <a:lnR w="12700" cap="flat" cmpd="sng" algn="ctr">
                      <a:solidFill>
                        <a:srgbClr val="DDE2E8"/>
                      </a:solidFill>
                      <a:prstDash val="solid"/>
                      <a:round/>
                      <a:headEnd type="none" w="med" len="med"/>
                      <a:tailEnd type="none" w="med" len="med"/>
                    </a:lnR>
                    <a:lnT w="12700" cap="flat" cmpd="sng" algn="ctr">
                      <a:solidFill>
                        <a:srgbClr val="DDE2E8"/>
                      </a:solidFill>
                      <a:prstDash val="solid"/>
                      <a:round/>
                      <a:headEnd type="none" w="med" len="med"/>
                      <a:tailEnd type="none" w="med" len="med"/>
                    </a:lnT>
                    <a:lnB w="12700" cap="flat" cmpd="sng" algn="ctr">
                      <a:solidFill>
                        <a:srgbClr val="DDE2E8"/>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Servis bazlı a/g ve takvim; kapsam veriyle düzeltilir</a:t>
                      </a:r>
                      <a:endParaRPr lang="en-US" sz="1300" dirty="0">
                        <a:latin typeface="Calibri" charset="0"/>
                        <a:ea typeface="Calibri" charset="0"/>
                        <a:cs typeface="Calibri" charset="0"/>
                      </a:endParaRPr>
                    </a:p>
                  </a:txBody>
                  <a:tcPr marL="109728" marR="109728" marT="45720" marB="45720" anchor="ctr">
                    <a:lnL w="12700" cap="flat" cmpd="sng" algn="ctr">
                      <a:solidFill>
                        <a:srgbClr val="DDE2E8"/>
                      </a:solidFill>
                      <a:prstDash val="solid"/>
                      <a:round/>
                      <a:headEnd type="none" w="med" len="med"/>
                      <a:tailEnd type="none" w="med" len="med"/>
                    </a:lnL>
                    <a:lnR w="12700" cap="flat" cmpd="sng" algn="ctr">
                      <a:solidFill>
                        <a:srgbClr val="DDE2E8"/>
                      </a:solidFill>
                      <a:prstDash val="solid"/>
                      <a:round/>
                      <a:headEnd type="none" w="med" len="med"/>
                      <a:tailEnd type="none" w="med" len="med"/>
                    </a:lnR>
                    <a:lnT w="12700" cap="flat" cmpd="sng" algn="ctr">
                      <a:solidFill>
                        <a:srgbClr val="DDE2E8"/>
                      </a:solidFill>
                      <a:prstDash val="solid"/>
                      <a:round/>
                      <a:headEnd type="none" w="med" len="med"/>
                      <a:tailEnd type="none" w="med" len="med"/>
                    </a:lnT>
                    <a:lnB w="12700" cap="flat" cmpd="sng" algn="ctr">
                      <a:solidFill>
                        <a:srgbClr val="DDE2E8"/>
                      </a:solidFill>
                      <a:prstDash val="solid"/>
                      <a:round/>
                      <a:headEnd type="none" w="med" len="med"/>
                      <a:tailEnd type="none" w="med" len="med"/>
                    </a:lnB>
                  </a:tcPr>
                </a:tc>
              </a:tr>
            </a:tbl>
          </a:graphicData>
        </a:graphic>
      </p:graphicFrame>
      <p:sp>
        <p:nvSpPr>
          <p:cNvPr id="10" name="Text 7"/>
          <p:cNvSpPr txBox="1"/>
          <p:nvPr/>
        </p:nvSpPr>
        <p:spPr>
          <a:xfrm>
            <a:off x="548640" y="5989320"/>
            <a:ext cx="10972800" cy="274320"/>
          </a:xfrm>
          <a:prstGeom prst="rect">
            <a:avLst/>
          </a:prstGeom>
          <a:noFill/>
          <a:ln/>
        </p:spPr>
        <p:txBody>
          <a:bodyPr wrap="square" lIns="0" tIns="0" rIns="0" bIns="0" rtlCol="0" anchor="ctr"/>
          <a:lstStyle/>
          <a:p>
            <a:pPr indent="0" marL="0">
              <a:buNone/>
            </a:pPr>
            <a:r>
              <a:rPr lang="en-US" sz="1100" i="1" dirty="0">
                <a:solidFill>
                  <a:schemeClr val="accent5"/>
                </a:solidFill>
              </a:rPr>
              <a:t>Rakamlar sentetik veriye dayanır; demo sırasında Mercek'in sayaçları (önlenen çağrı, bağlanan vaka, analiz süresi) gösterilir.</a:t>
            </a:r>
            <a:endParaRPr lang="en-US" sz="11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indent="0" marL="0">
              <a:buNone/>
            </a:pPr>
            <a:r>
              <a:rPr lang="en-US" sz="3600" b="1" dirty="0">
                <a:solidFill>
                  <a:schemeClr val="tx1"/>
                </a:solidFill>
              </a:rPr>
              <a:t>Neredeyiz, sırada ne var</a:t>
            </a:r>
            <a:endParaRPr lang="en-US" sz="3600" dirty="0"/>
          </a:p>
        </p:txBody>
      </p:sp>
      <p:sp>
        <p:nvSpPr>
          <p:cNvPr id="3" name="next-card-1"/>
          <p:cNvSpPr/>
          <p:nvPr/>
        </p:nvSpPr>
        <p:spPr>
          <a:xfrm>
            <a:off x="548640" y="1371600"/>
            <a:ext cx="3520440" cy="4754880"/>
          </a:xfrm>
          <a:prstGeom prst="roundRect">
            <a:avLst>
              <a:gd name="adj" fmla="val 3117"/>
            </a:avLst>
          </a:prstGeom>
          <a:solidFill>
            <a:schemeClr val="bg2"/>
          </a:solidFill>
          <a:ln w="12700">
            <a:solidFill>
              <a:schemeClr val="bg2"/>
            </a:solidFill>
            <a:prstDash val="solid"/>
          </a:ln>
        </p:spPr>
      </p:sp>
      <p:sp>
        <p:nvSpPr>
          <p:cNvPr id="4" name="next-1-circle"/>
          <p:cNvSpPr/>
          <p:nvPr/>
        </p:nvSpPr>
        <p:spPr>
          <a:xfrm>
            <a:off x="822960" y="1645920"/>
            <a:ext cx="685800" cy="685800"/>
          </a:xfrm>
          <a:prstGeom prst="ellipse">
            <a:avLst/>
          </a:prstGeom>
          <a:solidFill>
            <a:schemeClr val="accent2"/>
          </a:solidFill>
          <a:ln w="12700">
            <a:solidFill>
              <a:schemeClr val="accent2"/>
            </a:solidFill>
            <a:prstDash val="solid"/>
          </a:ln>
        </p:spPr>
      </p:sp>
      <p:pic>
        <p:nvPicPr>
          <p:cNvPr id="5" name="next-1-icon" descr="preencoded.png">    </p:cNvPr>
          <p:cNvPicPr>
            <a:picLocks noChangeAspect="1"/>
          </p:cNvPicPr>
          <p:nvPr/>
        </p:nvPicPr>
        <p:blipFill>
          <a:blip r:embed="rId1"/>
          <a:stretch>
            <a:fillRect/>
          </a:stretch>
        </p:blipFill>
        <p:spPr>
          <a:xfrm>
            <a:off x="1001268" y="1824228"/>
            <a:ext cx="329184" cy="329184"/>
          </a:xfrm>
          <a:prstGeom prst="rect">
            <a:avLst/>
          </a:prstGeom>
        </p:spPr>
      </p:pic>
      <p:sp>
        <p:nvSpPr>
          <p:cNvPr id="6" name="Text 3"/>
          <p:cNvSpPr txBox="1"/>
          <p:nvPr/>
        </p:nvSpPr>
        <p:spPr>
          <a:xfrm>
            <a:off x="1645920" y="1645920"/>
            <a:ext cx="2240280" cy="685800"/>
          </a:xfrm>
          <a:prstGeom prst="rect">
            <a:avLst/>
          </a:prstGeom>
          <a:noFill/>
          <a:ln/>
        </p:spPr>
        <p:txBody>
          <a:bodyPr wrap="square" lIns="0" tIns="0" rIns="0" bIns="0" rtlCol="0" anchor="ctr"/>
          <a:lstStyle/>
          <a:p>
            <a:pPr indent="0" marL="0">
              <a:buNone/>
            </a:pPr>
            <a:r>
              <a:rPr lang="en-US" sz="2000" b="1" dirty="0">
                <a:solidFill>
                  <a:schemeClr val="tx1"/>
                </a:solidFill>
              </a:rPr>
              <a:t>Tamamlanan</a:t>
            </a:r>
            <a:endParaRPr lang="en-US" sz="2000" dirty="0"/>
          </a:p>
        </p:txBody>
      </p:sp>
      <p:sp>
        <p:nvSpPr>
          <p:cNvPr id="7" name="Text 4"/>
          <p:cNvSpPr txBox="1"/>
          <p:nvPr/>
        </p:nvSpPr>
        <p:spPr>
          <a:xfrm>
            <a:off x="822960" y="2560320"/>
            <a:ext cx="2971800" cy="3383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M1: bağlam, log örüntüsü, servis ataması, ana kayıt, eşleştirme, kod analizi</a:t>
            </a:r>
            <a:endParaRPr lang="en-US" sz="1400" dirty="0"/>
          </a:p>
          <a:p>
            <a:pPr marL="342900" indent="-342900">
              <a:spcAft>
                <a:spcPts val="800"/>
              </a:spcAft>
              <a:buSzPct val="100000"/>
              <a:buChar char="•"/>
            </a:pPr>
            <a:r>
              <a:rPr lang="en-US" sz="1400" dirty="0">
                <a:solidFill>
                  <a:schemeClr val="tx1"/>
                </a:solidFill>
              </a:rPr>
              <a:t>M2: talep analizi, servis etkisi, adam-gün, takvim, köprü</a:t>
            </a:r>
            <a:endParaRPr lang="en-US" sz="1400" dirty="0"/>
          </a:p>
          <a:p>
            <a:pPr marL="342900" indent="-342900">
              <a:spcAft>
                <a:spcPts val="800"/>
              </a:spcAft>
              <a:buSzPct val="100000"/>
              <a:buChar char="•"/>
            </a:pPr>
            <a:r>
              <a:rPr lang="en-US" sz="1400" dirty="0">
                <a:solidFill>
                  <a:schemeClr val="tx1"/>
                </a:solidFill>
              </a:rPr>
              <a:t>Azure: 2 App Service, Foundry, SQL, AI Search</a:t>
            </a:r>
            <a:endParaRPr lang="en-US" sz="1400" dirty="0"/>
          </a:p>
          <a:p>
            <a:pPr marL="342900" indent="-342900">
              <a:spcAft>
                <a:spcPts val="800"/>
              </a:spcAft>
              <a:buSzPct val="100000"/>
              <a:buChar char="•"/>
            </a:pPr>
            <a:r>
              <a:rPr lang="en-US" sz="1400" dirty="0">
                <a:solidFill>
                  <a:schemeClr val="tx1"/>
                </a:solidFill>
              </a:rPr>
              <a:t>CI/CD ve PR'da güvenlik taraması</a:t>
            </a:r>
            <a:endParaRPr lang="en-US" sz="1400" dirty="0"/>
          </a:p>
        </p:txBody>
      </p:sp>
      <p:sp>
        <p:nvSpPr>
          <p:cNvPr id="8" name="next-card-2"/>
          <p:cNvSpPr/>
          <p:nvPr/>
        </p:nvSpPr>
        <p:spPr>
          <a:xfrm>
            <a:off x="4297680" y="1371600"/>
            <a:ext cx="3520440" cy="4754880"/>
          </a:xfrm>
          <a:prstGeom prst="roundRect">
            <a:avLst>
              <a:gd name="adj" fmla="val 3117"/>
            </a:avLst>
          </a:prstGeom>
          <a:solidFill>
            <a:schemeClr val="bg2"/>
          </a:solidFill>
          <a:ln w="12700">
            <a:solidFill>
              <a:schemeClr val="bg2"/>
            </a:solidFill>
            <a:prstDash val="solid"/>
          </a:ln>
        </p:spPr>
      </p:sp>
      <p:sp>
        <p:nvSpPr>
          <p:cNvPr id="9" name="next-2-circle"/>
          <p:cNvSpPr/>
          <p:nvPr/>
        </p:nvSpPr>
        <p:spPr>
          <a:xfrm>
            <a:off x="4572000" y="1645920"/>
            <a:ext cx="685800" cy="685800"/>
          </a:xfrm>
          <a:prstGeom prst="ellipse">
            <a:avLst/>
          </a:prstGeom>
          <a:solidFill>
            <a:schemeClr val="accent3"/>
          </a:solidFill>
          <a:ln w="12700">
            <a:solidFill>
              <a:schemeClr val="accent3"/>
            </a:solidFill>
            <a:prstDash val="solid"/>
          </a:ln>
        </p:spPr>
      </p:sp>
      <p:pic>
        <p:nvPicPr>
          <p:cNvPr id="10" name="next-2-icon" descr="preencoded.png">    </p:cNvPr>
          <p:cNvPicPr>
            <a:picLocks noChangeAspect="1"/>
          </p:cNvPicPr>
          <p:nvPr/>
        </p:nvPicPr>
        <p:blipFill>
          <a:blip r:embed="rId2"/>
          <a:stretch>
            <a:fillRect/>
          </a:stretch>
        </p:blipFill>
        <p:spPr>
          <a:xfrm>
            <a:off x="4750308" y="1824228"/>
            <a:ext cx="329184" cy="329184"/>
          </a:xfrm>
          <a:prstGeom prst="rect">
            <a:avLst/>
          </a:prstGeom>
        </p:spPr>
      </p:pic>
      <p:sp>
        <p:nvSpPr>
          <p:cNvPr id="11" name="Text 7"/>
          <p:cNvSpPr txBox="1"/>
          <p:nvPr/>
        </p:nvSpPr>
        <p:spPr>
          <a:xfrm>
            <a:off x="5394960" y="1645920"/>
            <a:ext cx="2240280" cy="685800"/>
          </a:xfrm>
          <a:prstGeom prst="rect">
            <a:avLst/>
          </a:prstGeom>
          <a:noFill/>
          <a:ln/>
        </p:spPr>
        <p:txBody>
          <a:bodyPr wrap="square" lIns="0" tIns="0" rIns="0" bIns="0" rtlCol="0" anchor="ctr"/>
          <a:lstStyle/>
          <a:p>
            <a:pPr indent="0" marL="0">
              <a:buNone/>
            </a:pPr>
            <a:r>
              <a:rPr lang="en-US" sz="2000" b="1" dirty="0">
                <a:solidFill>
                  <a:schemeClr val="tx1"/>
                </a:solidFill>
              </a:rPr>
              <a:t>Sınırlamalar</a:t>
            </a:r>
            <a:endParaRPr lang="en-US" sz="2000" dirty="0"/>
          </a:p>
        </p:txBody>
      </p:sp>
      <p:sp>
        <p:nvSpPr>
          <p:cNvPr id="12" name="Text 8"/>
          <p:cNvSpPr txBox="1"/>
          <p:nvPr/>
        </p:nvSpPr>
        <p:spPr>
          <a:xfrm>
            <a:off x="4572000" y="2560320"/>
            <a:ext cx="2971800" cy="3383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Veri tamamen sentetik</a:t>
            </a:r>
            <a:endParaRPr lang="en-US" sz="1400" dirty="0"/>
          </a:p>
          <a:p>
            <a:pPr marL="342900" indent="-342900">
              <a:spcAft>
                <a:spcPts val="800"/>
              </a:spcAft>
              <a:buSzPct val="100000"/>
              <a:buChar char="•"/>
            </a:pPr>
            <a:r>
              <a:rPr lang="en-US" sz="1400" dirty="0">
                <a:solidFill>
                  <a:schemeClr val="tx1"/>
                </a:solidFill>
              </a:rPr>
              <a:t>Gerçek log, çağrı ve kod entegrasyonu yok</a:t>
            </a:r>
            <a:endParaRPr lang="en-US" sz="1400" dirty="0"/>
          </a:p>
          <a:p>
            <a:pPr marL="342900" indent="-342900">
              <a:spcAft>
                <a:spcPts val="800"/>
              </a:spcAft>
              <a:buSzPct val="100000"/>
              <a:buChar char="•"/>
            </a:pPr>
            <a:r>
              <a:rPr lang="en-US" sz="1400" dirty="0">
                <a:solidFill>
                  <a:schemeClr val="tx1"/>
                </a:solidFill>
              </a:rPr>
              <a:t>Kod düzeltmeleri öneri; uygulama insan onaylı</a:t>
            </a:r>
            <a:endParaRPr lang="en-US" sz="1400" dirty="0"/>
          </a:p>
          <a:p>
            <a:pPr marL="342900" indent="-342900">
              <a:spcAft>
                <a:spcPts val="800"/>
              </a:spcAft>
              <a:buSzPct val="100000"/>
              <a:buChar char="•"/>
            </a:pPr>
            <a:r>
              <a:rPr lang="en-US" sz="1400" dirty="0">
                <a:solidFill>
                  <a:schemeClr val="tx1"/>
                </a:solidFill>
              </a:rPr>
              <a:t>E-posta ve SMS gönderimi simülasyon</a:t>
            </a:r>
            <a:endParaRPr lang="en-US" sz="1400" dirty="0"/>
          </a:p>
        </p:txBody>
      </p:sp>
      <p:sp>
        <p:nvSpPr>
          <p:cNvPr id="13" name="next-card-3"/>
          <p:cNvSpPr/>
          <p:nvPr/>
        </p:nvSpPr>
        <p:spPr>
          <a:xfrm>
            <a:off x="8046720" y="1371600"/>
            <a:ext cx="3520440" cy="4754880"/>
          </a:xfrm>
          <a:prstGeom prst="roundRect">
            <a:avLst>
              <a:gd name="adj" fmla="val 3117"/>
            </a:avLst>
          </a:prstGeom>
          <a:solidFill>
            <a:schemeClr val="bg2"/>
          </a:solidFill>
          <a:ln w="12700">
            <a:solidFill>
              <a:schemeClr val="bg2"/>
            </a:solidFill>
            <a:prstDash val="solid"/>
          </a:ln>
        </p:spPr>
      </p:sp>
      <p:sp>
        <p:nvSpPr>
          <p:cNvPr id="14" name="next-3-circle"/>
          <p:cNvSpPr/>
          <p:nvPr/>
        </p:nvSpPr>
        <p:spPr>
          <a:xfrm>
            <a:off x="8321040" y="1645920"/>
            <a:ext cx="685800" cy="685800"/>
          </a:xfrm>
          <a:prstGeom prst="ellipse">
            <a:avLst/>
          </a:prstGeom>
          <a:solidFill>
            <a:schemeClr val="accent1"/>
          </a:solidFill>
          <a:ln w="12700">
            <a:solidFill>
              <a:schemeClr val="accent1"/>
            </a:solidFill>
            <a:prstDash val="solid"/>
          </a:ln>
        </p:spPr>
      </p:sp>
      <p:pic>
        <p:nvPicPr>
          <p:cNvPr id="15" name="next-3-icon" descr="preencoded.png">    </p:cNvPr>
          <p:cNvPicPr>
            <a:picLocks noChangeAspect="1"/>
          </p:cNvPicPr>
          <p:nvPr/>
        </p:nvPicPr>
        <p:blipFill>
          <a:blip r:embed="rId3"/>
          <a:stretch>
            <a:fillRect/>
          </a:stretch>
        </p:blipFill>
        <p:spPr>
          <a:xfrm>
            <a:off x="8499348" y="1824228"/>
            <a:ext cx="329184" cy="329184"/>
          </a:xfrm>
          <a:prstGeom prst="rect">
            <a:avLst/>
          </a:prstGeom>
        </p:spPr>
      </p:pic>
      <p:sp>
        <p:nvSpPr>
          <p:cNvPr id="16" name="Text 11"/>
          <p:cNvSpPr txBox="1"/>
          <p:nvPr/>
        </p:nvSpPr>
        <p:spPr>
          <a:xfrm>
            <a:off x="9144000" y="1645920"/>
            <a:ext cx="2240280" cy="685800"/>
          </a:xfrm>
          <a:prstGeom prst="rect">
            <a:avLst/>
          </a:prstGeom>
          <a:noFill/>
          <a:ln/>
        </p:spPr>
        <p:txBody>
          <a:bodyPr wrap="square" lIns="0" tIns="0" rIns="0" bIns="0" rtlCol="0" anchor="ctr"/>
          <a:lstStyle/>
          <a:p>
            <a:pPr indent="0" marL="0">
              <a:buNone/>
            </a:pPr>
            <a:r>
              <a:rPr lang="en-US" sz="2000" b="1" dirty="0">
                <a:solidFill>
                  <a:schemeClr val="tx1"/>
                </a:solidFill>
              </a:rPr>
              <a:t>Canlıya geçiş</a:t>
            </a:r>
            <a:endParaRPr lang="en-US" sz="2000" dirty="0"/>
          </a:p>
        </p:txBody>
      </p:sp>
      <p:sp>
        <p:nvSpPr>
          <p:cNvPr id="17" name="Text 12"/>
          <p:cNvSpPr txBox="1"/>
          <p:nvPr/>
        </p:nvSpPr>
        <p:spPr>
          <a:xfrm>
            <a:off x="8321040" y="2560320"/>
            <a:ext cx="2971800" cy="3383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Log kaynağı: Kibana / Elasticsearch</a:t>
            </a:r>
            <a:endParaRPr lang="en-US" sz="1400" dirty="0"/>
          </a:p>
          <a:p>
            <a:pPr marL="342900" indent="-342900">
              <a:spcAft>
                <a:spcPts val="800"/>
              </a:spcAft>
              <a:buSzPct val="100000"/>
              <a:buChar char="•"/>
            </a:pPr>
            <a:r>
              <a:rPr lang="en-US" sz="1400" dirty="0">
                <a:solidFill>
                  <a:schemeClr val="tx1"/>
                </a:solidFill>
              </a:rPr>
              <a:t>Çağrı sistemi ve kod reposu için salt-okur entegrasyon</a:t>
            </a:r>
            <a:endParaRPr lang="en-US" sz="1400" dirty="0"/>
          </a:p>
          <a:p>
            <a:pPr marL="342900" indent="-342900">
              <a:spcAft>
                <a:spcPts val="800"/>
              </a:spcAft>
              <a:buSzPct val="100000"/>
              <a:buChar char="•"/>
            </a:pPr>
            <a:r>
              <a:rPr lang="en-US" sz="1400" dirty="0">
                <a:solidFill>
                  <a:schemeClr val="tx1"/>
                </a:solidFill>
              </a:rPr>
              <a:t>KVKK: loglarda maskeleme</a:t>
            </a:r>
            <a:endParaRPr lang="en-US" sz="1400" dirty="0"/>
          </a:p>
          <a:p>
            <a:pPr marL="342900" indent="-342900">
              <a:spcAft>
                <a:spcPts val="800"/>
              </a:spcAft>
              <a:buSzPct val="100000"/>
              <a:buChar char="•"/>
            </a:pPr>
            <a:r>
              <a:rPr lang="en-US" sz="1400" dirty="0">
                <a:solidFill>
                  <a:schemeClr val="tx1"/>
                </a:solidFill>
              </a:rPr>
              <a:t>Pilot: şube kanalı, KRDTKULL ve ODMTFATR</a:t>
            </a:r>
            <a:endParaRPr lang="en-US" sz="14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731520" y="731520"/>
            <a:ext cx="5486400" cy="822960"/>
          </a:xfrm>
          <a:prstGeom prst="rect">
            <a:avLst/>
          </a:prstGeom>
          <a:noFill/>
          <a:ln/>
        </p:spPr>
        <p:txBody>
          <a:bodyPr wrap="square" lIns="0" tIns="0" rIns="0" bIns="0" rtlCol="0" anchor="ctr"/>
          <a:lstStyle/>
          <a:p>
            <a:pPr indent="0" marL="0">
              <a:buNone/>
            </a:pPr>
            <a:r>
              <a:rPr lang="en-US" sz="4000" b="1" dirty="0">
                <a:solidFill>
                  <a:schemeClr val="bg1"/>
                </a:solidFill>
              </a:rPr>
              <a:t>Ekler</a:t>
            </a:r>
            <a:endParaRPr lang="en-US" sz="4000" dirty="0"/>
          </a:p>
        </p:txBody>
      </p:sp>
      <p:sp>
        <p:nvSpPr>
          <p:cNvPr id="3" name="link-1-circle"/>
          <p:cNvSpPr/>
          <p:nvPr/>
        </p:nvSpPr>
        <p:spPr>
          <a:xfrm>
            <a:off x="731520" y="1920240"/>
            <a:ext cx="685800" cy="685800"/>
          </a:xfrm>
          <a:prstGeom prst="ellipse">
            <a:avLst/>
          </a:prstGeom>
          <a:solidFill>
            <a:schemeClr val="tx2"/>
          </a:solidFill>
          <a:ln w="12700">
            <a:solidFill>
              <a:schemeClr val="tx2"/>
            </a:solidFill>
            <a:prstDash val="solid"/>
          </a:ln>
        </p:spPr>
      </p:sp>
      <p:pic>
        <p:nvPicPr>
          <p:cNvPr id="4" name="link-1-icon" descr="preencoded.png">    </p:cNvPr>
          <p:cNvPicPr>
            <a:picLocks noChangeAspect="1"/>
          </p:cNvPicPr>
          <p:nvPr/>
        </p:nvPicPr>
        <p:blipFill>
          <a:blip r:embed="rId1"/>
          <a:stretch>
            <a:fillRect/>
          </a:stretch>
        </p:blipFill>
        <p:spPr>
          <a:xfrm>
            <a:off x="909828" y="2098548"/>
            <a:ext cx="329184" cy="329184"/>
          </a:xfrm>
          <a:prstGeom prst="rect">
            <a:avLst/>
          </a:prstGeom>
        </p:spPr>
      </p:pic>
      <p:sp>
        <p:nvSpPr>
          <p:cNvPr id="5" name="Text 2"/>
          <p:cNvSpPr txBox="1"/>
          <p:nvPr/>
        </p:nvSpPr>
        <p:spPr>
          <a:xfrm>
            <a:off x="1645920" y="1874520"/>
            <a:ext cx="5029200" cy="822960"/>
          </a:xfrm>
          <a:prstGeom prst="rect">
            <a:avLst/>
          </a:prstGeom>
          <a:noFill/>
          <a:ln/>
        </p:spPr>
        <p:txBody>
          <a:bodyPr wrap="square" lIns="0" tIns="0" rIns="0" bIns="0" rtlCol="0" anchor="ctr"/>
          <a:lstStyle/>
          <a:p>
            <a:pPr indent="0" marL="0">
              <a:buNone/>
            </a:pPr>
            <a:r>
              <a:rPr lang="en-US" sz="1800" b="1" dirty="0">
                <a:solidFill>
                  <a:schemeClr val="bg1"/>
                </a:solidFill>
              </a:rPr>
              <a:t>GitHub repository</a:t>
            </a:r>
            <a:endParaRPr lang="en-US" sz="1800" dirty="0"/>
          </a:p>
          <a:p>
            <a:pPr indent="0" marL="0">
              <a:buNone/>
            </a:pPr>
            <a:r>
              <a:rPr lang="en-US" sz="1600" dirty="0">
                <a:solidFill>
                  <a:schemeClr val="accent1"/>
                </a:solidFill>
              </a:rPr>
              <a:t>[repo bağlantısı]</a:t>
            </a:r>
            <a:endParaRPr lang="en-US" sz="1800" dirty="0"/>
          </a:p>
        </p:txBody>
      </p:sp>
      <p:sp>
        <p:nvSpPr>
          <p:cNvPr id="6" name="link-2-circle"/>
          <p:cNvSpPr/>
          <p:nvPr/>
        </p:nvSpPr>
        <p:spPr>
          <a:xfrm>
            <a:off x="731520" y="2971800"/>
            <a:ext cx="685800" cy="685800"/>
          </a:xfrm>
          <a:prstGeom prst="ellipse">
            <a:avLst/>
          </a:prstGeom>
          <a:solidFill>
            <a:schemeClr val="tx2"/>
          </a:solidFill>
          <a:ln w="12700">
            <a:solidFill>
              <a:schemeClr val="tx2"/>
            </a:solidFill>
            <a:prstDash val="solid"/>
          </a:ln>
        </p:spPr>
      </p:sp>
      <p:pic>
        <p:nvPicPr>
          <p:cNvPr id="7" name="link-2-icon" descr="preencoded.png">    </p:cNvPr>
          <p:cNvPicPr>
            <a:picLocks noChangeAspect="1"/>
          </p:cNvPicPr>
          <p:nvPr/>
        </p:nvPicPr>
        <p:blipFill>
          <a:blip r:embed="rId2"/>
          <a:stretch>
            <a:fillRect/>
          </a:stretch>
        </p:blipFill>
        <p:spPr>
          <a:xfrm>
            <a:off x="909828" y="3150108"/>
            <a:ext cx="329184" cy="329184"/>
          </a:xfrm>
          <a:prstGeom prst="rect">
            <a:avLst/>
          </a:prstGeom>
        </p:spPr>
      </p:pic>
      <p:sp>
        <p:nvSpPr>
          <p:cNvPr id="8" name="Text 4"/>
          <p:cNvSpPr txBox="1"/>
          <p:nvPr/>
        </p:nvSpPr>
        <p:spPr>
          <a:xfrm>
            <a:off x="1645920" y="2926080"/>
            <a:ext cx="5029200" cy="822960"/>
          </a:xfrm>
          <a:prstGeom prst="rect">
            <a:avLst/>
          </a:prstGeom>
          <a:noFill/>
          <a:ln/>
        </p:spPr>
        <p:txBody>
          <a:bodyPr wrap="square" lIns="0" tIns="0" rIns="0" bIns="0" rtlCol="0" anchor="ctr"/>
          <a:lstStyle/>
          <a:p>
            <a:pPr indent="0" marL="0">
              <a:buNone/>
            </a:pPr>
            <a:r>
              <a:rPr lang="en-US" sz="1800" b="1" dirty="0">
                <a:solidFill>
                  <a:schemeClr val="bg1"/>
                </a:solidFill>
              </a:rPr>
              <a:t>Web uygulaması</a:t>
            </a:r>
            <a:endParaRPr lang="en-US" sz="1800" dirty="0"/>
          </a:p>
          <a:p>
            <a:pPr indent="0" marL="0">
              <a:buNone/>
            </a:pPr>
            <a:r>
              <a:rPr lang="en-US" sz="1600" dirty="0">
                <a:solidFill>
                  <a:schemeClr val="accent1"/>
                </a:solidFill>
              </a:rPr>
              <a:t>[mercek-web adresi]</a:t>
            </a:r>
            <a:endParaRPr lang="en-US" sz="1800" dirty="0"/>
          </a:p>
        </p:txBody>
      </p:sp>
      <p:sp>
        <p:nvSpPr>
          <p:cNvPr id="9" name="link-3-circle"/>
          <p:cNvSpPr/>
          <p:nvPr/>
        </p:nvSpPr>
        <p:spPr>
          <a:xfrm>
            <a:off x="731520" y="4023360"/>
            <a:ext cx="685800" cy="685800"/>
          </a:xfrm>
          <a:prstGeom prst="ellipse">
            <a:avLst/>
          </a:prstGeom>
          <a:solidFill>
            <a:schemeClr val="tx2"/>
          </a:solidFill>
          <a:ln w="12700">
            <a:solidFill>
              <a:schemeClr val="tx2"/>
            </a:solidFill>
            <a:prstDash val="solid"/>
          </a:ln>
        </p:spPr>
      </p:sp>
      <p:pic>
        <p:nvPicPr>
          <p:cNvPr id="10" name="link-3-icon" descr="preencoded.png">    </p:cNvPr>
          <p:cNvPicPr>
            <a:picLocks noChangeAspect="1"/>
          </p:cNvPicPr>
          <p:nvPr/>
        </p:nvPicPr>
        <p:blipFill>
          <a:blip r:embed="rId3"/>
          <a:stretch>
            <a:fillRect/>
          </a:stretch>
        </p:blipFill>
        <p:spPr>
          <a:xfrm>
            <a:off x="909828" y="4201668"/>
            <a:ext cx="329184" cy="329184"/>
          </a:xfrm>
          <a:prstGeom prst="rect">
            <a:avLst/>
          </a:prstGeom>
        </p:spPr>
      </p:pic>
      <p:sp>
        <p:nvSpPr>
          <p:cNvPr id="11" name="Text 6"/>
          <p:cNvSpPr txBox="1"/>
          <p:nvPr/>
        </p:nvSpPr>
        <p:spPr>
          <a:xfrm>
            <a:off x="1645920" y="3977640"/>
            <a:ext cx="5029200" cy="822960"/>
          </a:xfrm>
          <a:prstGeom prst="rect">
            <a:avLst/>
          </a:prstGeom>
          <a:noFill/>
          <a:ln/>
        </p:spPr>
        <p:txBody>
          <a:bodyPr wrap="square" lIns="0" tIns="0" rIns="0" bIns="0" rtlCol="0" anchor="ctr"/>
          <a:lstStyle/>
          <a:p>
            <a:pPr indent="0" marL="0">
              <a:buNone/>
            </a:pPr>
            <a:r>
              <a:rPr lang="en-US" sz="1800" b="1" dirty="0">
                <a:solidFill>
                  <a:schemeClr val="bg1"/>
                </a:solidFill>
              </a:rPr>
              <a:t>Senaryo videoları</a:t>
            </a:r>
            <a:endParaRPr lang="en-US" sz="1800" dirty="0"/>
          </a:p>
          <a:p>
            <a:pPr indent="0" marL="0">
              <a:buNone/>
            </a:pPr>
            <a:r>
              <a:rPr lang="en-US" sz="1600" dirty="0">
                <a:solidFill>
                  <a:schemeClr val="accent1"/>
                </a:solidFill>
              </a:rPr>
              <a:t>[video bağlantısı]</a:t>
            </a:r>
            <a:endParaRPr lang="en-US" sz="1800" dirty="0"/>
          </a:p>
        </p:txBody>
      </p:sp>
      <p:sp>
        <p:nvSpPr>
          <p:cNvPr id="12" name="Text 7"/>
          <p:cNvSpPr txBox="1"/>
          <p:nvPr/>
        </p:nvSpPr>
        <p:spPr>
          <a:xfrm>
            <a:off x="731520" y="5257800"/>
            <a:ext cx="6400800" cy="548640"/>
          </a:xfrm>
          <a:prstGeom prst="rect">
            <a:avLst/>
          </a:prstGeom>
          <a:noFill/>
          <a:ln/>
        </p:spPr>
        <p:txBody>
          <a:bodyPr wrap="square" lIns="0" tIns="0" rIns="0" bIns="0" rtlCol="0" anchor="ctr"/>
          <a:lstStyle/>
          <a:p>
            <a:pPr indent="0" marL="0">
              <a:buNone/>
            </a:pPr>
            <a:r>
              <a:rPr lang="en-US" sz="2400" i="1" dirty="0">
                <a:solidFill>
                  <a:schemeClr val="bg2"/>
                </a:solidFill>
              </a:rPr>
              <a:t>Soruna odaklanır, çözümü netleştirir.</a:t>
            </a:r>
            <a:endParaRPr lang="en-US" sz="2400" dirty="0"/>
          </a:p>
        </p:txBody>
      </p:sp>
      <p:sp>
        <p:nvSpPr>
          <p:cNvPr id="13" name="Text 8"/>
          <p:cNvSpPr txBox="1"/>
          <p:nvPr/>
        </p:nvSpPr>
        <p:spPr>
          <a:xfrm>
            <a:off x="731520" y="5806440"/>
            <a:ext cx="6400800" cy="411480"/>
          </a:xfrm>
          <a:prstGeom prst="rect">
            <a:avLst/>
          </a:prstGeom>
          <a:noFill/>
          <a:ln/>
        </p:spPr>
        <p:txBody>
          <a:bodyPr wrap="square" lIns="0" tIns="0" rIns="0" bIns="0" rtlCol="0" anchor="ctr"/>
          <a:lstStyle/>
          <a:p>
            <a:pPr indent="0" marL="0">
              <a:buNone/>
            </a:pPr>
            <a:r>
              <a:rPr lang="en-US" sz="1600" b="1" dirty="0">
                <a:solidFill>
                  <a:schemeClr val="accent1"/>
                </a:solidFill>
              </a:rPr>
              <a:t>Teşekkürler · AI Overflow</a:t>
            </a:r>
            <a:endParaRPr lang="en-US" sz="1600" dirty="0"/>
          </a:p>
        </p:txBody>
      </p:sp>
      <p:sp>
        <p:nvSpPr>
          <p:cNvPr id="14" name="lens-outer"/>
          <p:cNvSpPr/>
          <p:nvPr/>
        </p:nvSpPr>
        <p:spPr>
          <a:xfrm>
            <a:off x="7406640" y="1371600"/>
            <a:ext cx="4114800" cy="4114800"/>
          </a:xfrm>
          <a:prstGeom prst="ellipse">
            <a:avLst/>
          </a:prstGeom>
          <a:ln w="76200">
            <a:solidFill>
              <a:schemeClr val="accent1"/>
            </a:solidFill>
            <a:prstDash val="solid"/>
          </a:ln>
        </p:spPr>
      </p:sp>
      <p:sp>
        <p:nvSpPr>
          <p:cNvPr id="15" name="lens-inner"/>
          <p:cNvSpPr/>
          <p:nvPr/>
        </p:nvSpPr>
        <p:spPr>
          <a:xfrm>
            <a:off x="8188452" y="2153412"/>
            <a:ext cx="2551176" cy="2551176"/>
          </a:xfrm>
          <a:prstGeom prst="ellipse">
            <a:avLst/>
          </a:prstGeom>
          <a:ln w="38100">
            <a:solidFill>
              <a:schemeClr val="accent2"/>
            </a:solidFill>
            <a:prstDash val="solid"/>
          </a:ln>
        </p:spPr>
      </p:sp>
      <p:sp>
        <p:nvSpPr>
          <p:cNvPr id="16" name="lens-core"/>
          <p:cNvSpPr/>
          <p:nvPr/>
        </p:nvSpPr>
        <p:spPr>
          <a:xfrm>
            <a:off x="9011412" y="2976372"/>
            <a:ext cx="905256" cy="905256"/>
          </a:xfrm>
          <a:prstGeom prst="ellipse">
            <a:avLst/>
          </a:prstGeom>
          <a:solidFill>
            <a:schemeClr val="accent1"/>
          </a:solidFill>
          <a:ln w="12700">
            <a:solidFill>
              <a:schemeClr val="accent1"/>
            </a:solidFill>
            <a:prstDash val="solid"/>
          </a:ln>
        </p:spPr>
      </p:sp>
    </p:spTree>
  </p:cSld>
  <p:clrMapOvr>
    <a:masterClrMapping/>
  </p:clrMapOvr>
</p:sld>
</file>

<file path=ppt/theme/theme1.xml><?xml version="1.0" encoding="utf-8"?>
<a:theme xmlns:a="http://schemas.openxmlformats.org/drawingml/2006/main" name="Mercek">
  <a:themeElements>
    <a:clrScheme name="Mercek">
      <a:dk1>
        <a:srgbClr val="17202A"/>
      </a:dk1>
      <a:lt1>
        <a:srgbClr val="FFFFFF"/>
      </a:lt1>
      <a:dk2>
        <a:srgbClr val="2B3A67"/>
      </a:dk2>
      <a:lt2>
        <a:srgbClr val="F4F6F8"/>
      </a:lt2>
      <a:accent1>
        <a:srgbClr val="E8A33D"/>
      </a:accent1>
      <a:accent2>
        <a:srgbClr val="2A9D8F"/>
      </a:accent2>
      <a:accent3>
        <a:srgbClr val="E76F51"/>
      </a:accent3>
      <a:accent4>
        <a:srgbClr val="2B3A67"/>
      </a:accent4>
      <a:accent5>
        <a:srgbClr val="5B6673"/>
      </a:accent5>
      <a:accent6>
        <a:srgbClr val="C8424B"/>
      </a:accent6>
      <a:hlink>
        <a:srgbClr val="2A9D8F"/>
      </a:hlink>
      <a:folHlink>
        <a:srgbClr val="2B3A67"/>
      </a:folHlink>
    </a:clrScheme>
    <a:fontScheme name="Mercek">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Mercek — AI Overflow</dc:title>
  <dc:subject>PptxGenJS Presentation</dc:subject>
  <dc:creator>AI Overflow</dc:creator>
  <cp:lastModifiedBy>AI Overflow</cp:lastModifiedBy>
  <cp:revision>1</cp:revision>
  <dcterms:created xsi:type="dcterms:W3CDTF">2026-10-16T04:09:18Z</dcterms:created>
  <dcterms:modified xsi:type="dcterms:W3CDTF">2026-10-16T04:09:18Z</dcterms:modified>
</cp:coreProperties>
</file>